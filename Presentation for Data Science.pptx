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5287"/>
  </p:normalViewPr>
  <p:slideViewPr>
    <p:cSldViewPr snapToGrid="0">
      <p:cViewPr varScale="1">
        <p:scale>
          <a:sx n="73" d="100"/>
          <a:sy n="73" d="100"/>
        </p:scale>
        <p:origin x="20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F40A0F-BD85-603D-181E-9C66E37BFA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936BB-B831-2854-B635-230E0871B3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95AB4-9AA8-C645-AA29-4375378B4167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F3537-410A-B7F8-430A-721419008D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C2C70-BEC0-CE41-2EF9-D629361497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2D6AB-674B-6848-89E6-69A39A6FB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835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05AB0-F05C-8A40-9DC9-2A281BC93A8B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80763-E045-9A48-B048-61B3DE2C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457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EDA Findings</a:t>
            </a:r>
          </a:p>
          <a:p>
            <a:r>
              <a:rPr lang="en-US" b="1" dirty="0"/>
              <a:t>3 columns are completely empty (100% missing):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Bill to Address 2 </a:t>
            </a:r>
          </a:p>
          <a:p>
            <a:pPr lvl="1"/>
            <a:r>
              <a:rPr lang="en-US" dirty="0"/>
              <a:t>Bill to Address 3 </a:t>
            </a:r>
          </a:p>
          <a:p>
            <a:pPr lvl="1"/>
            <a:r>
              <a:rPr lang="en-US" dirty="0"/>
              <a:t>Cost Center </a:t>
            </a:r>
          </a:p>
          <a:p>
            <a:r>
              <a:rPr lang="en-US" b="1" dirty="0"/>
              <a:t>Rental Payment</a:t>
            </a:r>
            <a:r>
              <a:rPr lang="en-US" dirty="0"/>
              <a:t> is almost entirely missing (</a:t>
            </a:r>
            <a:r>
              <a:rPr lang="en-US" b="1" dirty="0"/>
              <a:t>98.3% missing</a:t>
            </a:r>
            <a:r>
              <a:rPr lang="en-US" dirty="0"/>
              <a:t>) and may need to be removed from modeling. </a:t>
            </a:r>
          </a:p>
          <a:p>
            <a:r>
              <a:rPr lang="en-US" dirty="0"/>
              <a:t>Most other columns have very few missing values and can be handled with simple imputation or record review.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80763-E045-9A48-B048-61B3DE2CF9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73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80763-E045-9A48-B048-61B3DE2CF9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0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C2A2-297C-8249-822D-D20116F4E9A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90E15-97ED-3142-9FDE-41C79DE03E34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3E8D-2B21-3B4C-B3F4-8FC3B6BF699B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23C8-3D70-2E4E-B627-42A91A35B32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17A7-9F5D-6D42-938F-E0C4D510A496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A14E8-55CF-7944-937B-38BF59210B81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4A7B-2C58-D042-AF4C-DB690E551C30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6BE3-9DFB-444E-90B5-B9816E9B02D9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7CB7-4D15-C448-8BF3-A5544D0ABFAC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ED9E-5221-654F-BBF6-A23FD7D83F40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5DC74-A7BA-9E44-BD0C-CC23A31ADB72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DA33-A76A-6C4D-B7B7-BEF7F8421BBC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882F-F1CF-5B43-93A3-5EBBBA49E7F3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60DD-43FB-924E-B09E-C7E60E795072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9BCC-58F3-5C49-A22F-F3AD7013BB4A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6436-3BB0-C348-96B1-75896ACED444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A1183-611A-9344-95DF-15D3F534F05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orldclass.regis.edu/d2l/home/37603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5740-0127-9E8D-5A7C-DC41DFFE1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0813" y="278320"/>
            <a:ext cx="7766936" cy="1646302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Rental Agreement</a:t>
            </a:r>
            <a:b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Financial Analytics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66405-931D-663C-3384-309C43755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538" y="2387130"/>
            <a:ext cx="9545638" cy="1460433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en-US" sz="7200" b="1" i="1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Data Science Practicum 1 — Proposal, </a:t>
            </a:r>
            <a:r>
              <a:rPr lang="en-US" sz="7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 tooltip="MSDS692_S40_Data Science Practic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MSDS692_S40_Data Science Practicum</a:t>
            </a:r>
            <a:endParaRPr lang="en-US" sz="7200" b="1" i="1" dirty="0">
              <a:solidFill>
                <a:schemeClr val="tx1"/>
              </a:solidFill>
              <a:latin typeface="Calibri" panose="020F050202020403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pPr algn="l"/>
            <a:endParaRPr lang="en-US" sz="72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7200" b="1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Prakash Ghatani  |  Regis University, Denver CO  |  pghatani@regis.edu</a:t>
            </a:r>
            <a:endParaRPr lang="en-US" sz="7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324B4-A9E6-A2B9-236F-92734D181CAC}"/>
              </a:ext>
            </a:extLst>
          </p:cNvPr>
          <p:cNvSpPr txBox="1"/>
          <p:nvPr/>
        </p:nvSpPr>
        <p:spPr>
          <a:xfrm>
            <a:off x="334108" y="4191636"/>
            <a:ext cx="9739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F2328"/>
                </a:solidFill>
                <a:latin typeface="Trebuchet MS" panose="020B0703020202090204" pitchFamily="34" charset="0"/>
                <a:cs typeface="Calibri" panose="020F0502020204030204" pitchFamily="34" charset="0"/>
              </a:rPr>
              <a:t>This asset's rental agreement analysis helps understand rental costs, contracts, vendor information, and missing data. The project also uses data analysis and machine learning to predict future monthly rental costs.</a:t>
            </a:r>
            <a:endParaRPr lang="en-US" sz="2000" dirty="0">
              <a:latin typeface="Trebuchet MS" panose="020B070302020209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EA51B-451A-688B-CA82-A1F41BBE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58E1C-195B-3697-CE4B-CC4363D3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87" y="35169"/>
            <a:ext cx="24384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09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67543-4677-66A9-947D-68297F2C979B}"/>
              </a:ext>
            </a:extLst>
          </p:cNvPr>
          <p:cNvSpPr txBox="1"/>
          <p:nvPr/>
        </p:nvSpPr>
        <p:spPr>
          <a:xfrm>
            <a:off x="8276063" y="593151"/>
            <a:ext cx="3123620" cy="4479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Business Problem &amp;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Research Questions</a:t>
            </a:r>
          </a:p>
        </p:txBody>
      </p:sp>
      <p:sp>
        <p:nvSpPr>
          <p:cNvPr id="46" name="Isosceles Triangle 26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30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90E27C57-C2F1-D8EC-16A6-112AF41F8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0" y="3701745"/>
            <a:ext cx="68759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vendors and manufacturers have the highest rental costs?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asset types generate the highest monthly rental amounts?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Are there any unusual rental amounts compared to asset costs?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factors best predict asset rental amounts?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How can lease costs be reduced and lease management improved?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5FFF0-FCFC-A856-F1AD-6E9B5A2E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FAABEB2-8A0D-6CD5-BECE-B4BCA7D9C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87" y="794272"/>
            <a:ext cx="67337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The company has many leased assets in different locations.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These assets are managed under different contracts, vendors, and manufacturers.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It is difficult to find expensive assets without data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It is also hard to find unusual rental costs and contract risks.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Data analysis can help find ways to reduce costs and improve lease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rebuchet MS" panose="020B070302020209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Main prediction target:</a:t>
            </a:r>
            <a:r>
              <a:rPr lang="en-US" dirty="0"/>
              <a:t> </a:t>
            </a:r>
            <a:r>
              <a:rPr lang="en-US" sz="1600" b="1" dirty="0"/>
              <a:t>Asset Rental Expenses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1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DE10C94-7647-FB56-C58B-3EF4157D6CB4}"/>
              </a:ext>
            </a:extLst>
          </p:cNvPr>
          <p:cNvSpPr txBox="1"/>
          <p:nvPr/>
        </p:nvSpPr>
        <p:spPr>
          <a:xfrm>
            <a:off x="2149158" y="236459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Accessing the Data and Data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036035-C26D-0632-28D1-D4A8A3265373}"/>
              </a:ext>
            </a:extLst>
          </p:cNvPr>
          <p:cNvSpPr txBox="1"/>
          <p:nvPr/>
        </p:nvSpPr>
        <p:spPr>
          <a:xfrm>
            <a:off x="222742" y="967143"/>
            <a:ext cx="44534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Load the Excel file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Review rows, columns, data types, and missing values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Define the business goal and prediction target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69A793-8683-6491-B245-62872A3A25DE}"/>
              </a:ext>
            </a:extLst>
          </p:cNvPr>
          <p:cNvSpPr txBox="1"/>
          <p:nvPr/>
        </p:nvSpPr>
        <p:spPr>
          <a:xfrm>
            <a:off x="4844559" y="904757"/>
            <a:ext cx="445340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Descriptive statistics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Vendor and manufacturer cost analysis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Rental amount distribution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Asset cost vs rental amount relationship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Missing data visualization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D5B1DE6-E69E-C702-F40C-B32EBAC36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31" y="3243030"/>
            <a:ext cx="4706692" cy="24099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46BF-9F4C-A7A1-5F96-0D7773FF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31E0DF-87D0-B88A-DF4C-DB7AEC608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41" y="3113599"/>
            <a:ext cx="4975489" cy="23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90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473A-8D75-D179-55CA-5793414D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2175"/>
            <a:ext cx="5321684" cy="660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Prepare Data 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5493E-A00F-9418-46F7-54936D089271}"/>
              </a:ext>
            </a:extLst>
          </p:cNvPr>
          <p:cNvSpPr txBox="1"/>
          <p:nvPr/>
        </p:nvSpPr>
        <p:spPr>
          <a:xfrm>
            <a:off x="677334" y="1448443"/>
            <a:ext cx="63396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 </a:t>
            </a: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Clean column names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Handle missing values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Create useful features such as rental-to-cost ratio, lease age, and days until primary term end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Encode categorical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AD4B6A-A5BD-345A-A8B2-AA44C4C81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045208"/>
            <a:ext cx="7772400" cy="15243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86DC-BAA1-0F42-7967-25D71145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82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5F53-BBA8-AB75-CD61-9F6D0664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938468" cy="54317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Regression Modeling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7CB90-4B25-AEC9-59FD-5D9204EC785F}"/>
              </a:ext>
            </a:extLst>
          </p:cNvPr>
          <p:cNvSpPr txBox="1"/>
          <p:nvPr/>
        </p:nvSpPr>
        <p:spPr>
          <a:xfrm>
            <a:off x="3566320" y="402220"/>
            <a:ext cx="6492080" cy="2696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200" b="0" i="0">
                <a:effectLst/>
              </a:rPr>
              <a:t>1.</a:t>
            </a:r>
            <a:r>
              <a:rPr lang="en-US" sz="2200"/>
              <a:t> </a:t>
            </a:r>
            <a:r>
              <a:rPr lang="en-US" sz="2200" b="0" i="0">
                <a:effectLst/>
              </a:rPr>
              <a:t>Linear </a:t>
            </a:r>
            <a:r>
              <a:rPr lang="en-US" sz="2200" b="0" i="0" dirty="0">
                <a:effectLst/>
              </a:rPr>
              <a:t>Regression 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200" b="0" i="0" dirty="0">
                <a:effectLst/>
              </a:rPr>
              <a:t>2. Random Forest Regressor</a:t>
            </a:r>
          </a:p>
          <a:p>
            <a:pPr>
              <a:spcBef>
                <a:spcPts val="1000"/>
              </a:spcBef>
              <a:buClr>
                <a:schemeClr val="tx1"/>
              </a:buClr>
              <a:buSzPct val="80000"/>
            </a:pPr>
            <a:r>
              <a:rPr lang="en-US" sz="2200" b="1" i="0" dirty="0">
                <a:effectLst/>
              </a:rPr>
              <a:t>Compare model performance using </a:t>
            </a:r>
          </a:p>
          <a:p>
            <a:pPr marL="457200" indent="-457200">
              <a:spcBef>
                <a:spcPts val="1000"/>
              </a:spcBef>
              <a:buClr>
                <a:schemeClr val="tx1"/>
              </a:buClr>
              <a:buSzPct val="80000"/>
              <a:buFont typeface="+mj-lt"/>
              <a:buAutoNum type="alphaLcParenR"/>
            </a:pPr>
            <a:r>
              <a:rPr lang="en-US" sz="2200" b="0" i="0" dirty="0">
                <a:effectLst/>
              </a:rPr>
              <a:t>Mean_absolute_error</a:t>
            </a:r>
            <a:r>
              <a:rPr lang="en-US" sz="2200" dirty="0"/>
              <a:t>(MAE)</a:t>
            </a:r>
            <a:r>
              <a:rPr lang="en-US" sz="2200" b="0" i="0" dirty="0">
                <a:effectLst/>
              </a:rPr>
              <a:t>, </a:t>
            </a:r>
          </a:p>
          <a:p>
            <a:pPr marL="457200" indent="-457200">
              <a:spcBef>
                <a:spcPts val="1000"/>
              </a:spcBef>
              <a:buClr>
                <a:schemeClr val="tx1"/>
              </a:buClr>
              <a:buSzPct val="80000"/>
              <a:buFont typeface="+mj-lt"/>
              <a:buAutoNum type="alphaLcParenR"/>
            </a:pPr>
            <a:r>
              <a:rPr lang="en-US" sz="2200" b="0" i="0" dirty="0">
                <a:effectLst/>
              </a:rPr>
              <a:t>RMSE(Root Mean Squared Error), </a:t>
            </a:r>
            <a:endParaRPr lang="en-US" sz="2200" dirty="0"/>
          </a:p>
          <a:p>
            <a:pPr marL="457200" indent="-457200">
              <a:spcBef>
                <a:spcPts val="1000"/>
              </a:spcBef>
              <a:buClr>
                <a:schemeClr val="tx1"/>
              </a:buClr>
              <a:buSzPct val="80000"/>
              <a:buFont typeface="+mj-lt"/>
              <a:buAutoNum type="alphaLcParenR"/>
            </a:pPr>
            <a:r>
              <a:rPr lang="en-US" sz="2200" b="0" i="0" dirty="0">
                <a:effectLst/>
              </a:rPr>
              <a:t>R²(R-squared,Coefficient of Determination)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1F9FA-7333-F283-D6C0-E5B0E35A5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54" y="3430989"/>
            <a:ext cx="6058337" cy="13973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B78C5-B695-57F2-9CF6-A3CAFCB70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83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89C2C6-C850-C9CE-8E66-7607F282FC99}"/>
              </a:ext>
            </a:extLst>
          </p:cNvPr>
          <p:cNvSpPr txBox="1"/>
          <p:nvPr/>
        </p:nvSpPr>
        <p:spPr>
          <a:xfrm>
            <a:off x="357388" y="228568"/>
            <a:ext cx="9143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600" b="1" i="0" dirty="0">
                <a:solidFill>
                  <a:srgbClr val="1F2328"/>
                </a:solidFill>
                <a:effectLst/>
                <a:latin typeface="Mona Sans VF"/>
              </a:rPr>
              <a:t>Model Evaluation and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B43CB-48AA-9110-C816-952694C59885}"/>
              </a:ext>
            </a:extLst>
          </p:cNvPr>
          <p:cNvSpPr txBox="1"/>
          <p:nvPr/>
        </p:nvSpPr>
        <p:spPr>
          <a:xfrm>
            <a:off x="357388" y="874899"/>
            <a:ext cx="609814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Actual vs predicted rental amount plot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Feature importance chart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Residual error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F23A2-9981-5606-C84A-827BD004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" y="2857030"/>
            <a:ext cx="4871435" cy="2613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AA548-03B4-7FDB-2BB2-C511E54E2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882" y="2799000"/>
            <a:ext cx="4972318" cy="26713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EB7D8C-3431-0A66-79DA-A1A82E7A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01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424ABF-8524-5DD2-419F-EF41ACE6DACD}"/>
              </a:ext>
            </a:extLst>
          </p:cNvPr>
          <p:cNvSpPr txBox="1"/>
          <p:nvPr/>
        </p:nvSpPr>
        <p:spPr>
          <a:xfrm>
            <a:off x="404446" y="609600"/>
            <a:ext cx="3211356" cy="5431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2400" b="1" i="0" dirty="0">
                <a:effectLst/>
                <a:latin typeface="+mj-lt"/>
                <a:ea typeface="+mj-ea"/>
                <a:cs typeface="+mj-cs"/>
              </a:rPr>
              <a:t>Business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400" b="1" i="0" dirty="0">
                <a:effectLst/>
                <a:latin typeface="+mj-lt"/>
                <a:ea typeface="+mj-ea"/>
                <a:cs typeface="+mj-cs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6F654-CC1C-2B23-DD6E-D1DC15D42B61}"/>
              </a:ext>
            </a:extLst>
          </p:cNvPr>
          <p:cNvSpPr txBox="1"/>
          <p:nvPr/>
        </p:nvSpPr>
        <p:spPr>
          <a:xfrm>
            <a:off x="3615801" y="1436556"/>
            <a:ext cx="5466205" cy="3119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Monitor high-cost vendors and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assets with high rental-to-cost ratio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missing data quality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the prediction model as a screening tool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 a renewal dashboard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60DBA-1E4B-2A02-076F-2F8B2C3A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84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062135-A739-3511-46F2-4AD1845B1FA2}"/>
              </a:ext>
            </a:extLst>
          </p:cNvPr>
          <p:cNvSpPr txBox="1"/>
          <p:nvPr/>
        </p:nvSpPr>
        <p:spPr>
          <a:xfrm>
            <a:off x="588638" y="1276814"/>
            <a:ext cx="3812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Conclusion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1262B3-A2EA-7AB1-0C7A-1DF4E4E9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13DD0-AC72-30EF-2822-4DD3E3799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8" y="1859010"/>
            <a:ext cx="986496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Analyzed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1,727 lease assets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29 contracts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Found the main factors affecting rental costs.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Identified missing data and unusual rental amounts.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Built models to predict monthly rental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Provided recommendations to improve lease cost management.</a:t>
            </a:r>
          </a:p>
        </p:txBody>
      </p:sp>
    </p:spTree>
    <p:extLst>
      <p:ext uri="{BB962C8B-B14F-4D97-AF65-F5344CB8AC3E}">
        <p14:creationId xmlns:p14="http://schemas.microsoft.com/office/powerpoint/2010/main" val="1933127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64E2-8F7F-EA68-57FA-819B594E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2" y="2708029"/>
            <a:ext cx="7772400" cy="207498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658E0-8B23-2066-5141-840903B0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69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7980</TotalTime>
  <Words>509</Words>
  <Application>Microsoft Macintosh PowerPoint</Application>
  <PresentationFormat>Widescreen</PresentationFormat>
  <Paragraphs>82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Mona Sans VF</vt:lpstr>
      <vt:lpstr>Trebuchet MS</vt:lpstr>
      <vt:lpstr>Wingdings 3</vt:lpstr>
      <vt:lpstr>Facet</vt:lpstr>
      <vt:lpstr>Asset Rental Agreement &amp; Financial Analytics</vt:lpstr>
      <vt:lpstr>PowerPoint Presentation</vt:lpstr>
      <vt:lpstr>PowerPoint Presentation</vt:lpstr>
      <vt:lpstr>Prepare Data   </vt:lpstr>
      <vt:lpstr>Regression Modeling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Ghatani, Prakash</dc:creator>
  <cp:lastModifiedBy>Ghatani, Prakash</cp:lastModifiedBy>
  <cp:revision>46</cp:revision>
  <dcterms:created xsi:type="dcterms:W3CDTF">2026-06-05T18:56:32Z</dcterms:created>
  <dcterms:modified xsi:type="dcterms:W3CDTF">2026-06-16T23:50:20Z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2026-06-05T19:21:32Z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805a822d-e887-4e82-9a51-bb75233e7225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50, 3, 0, 1</vt:lpwstr>
  </property>
</Properties>
</file>