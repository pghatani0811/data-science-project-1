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84"/>
  </p:normalViewPr>
  <p:slideViewPr>
    <p:cSldViewPr snapToGrid="0">
      <p:cViewPr varScale="1">
        <p:scale>
          <a:sx n="73" d="100"/>
          <a:sy n="73" d="100"/>
        </p:scale>
        <p:origin x="208" y="10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F40A0F-BD85-603D-181E-9C66E37BFA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8936BB-B831-2854-B635-230E0871B3B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5695AB4-9AA8-C645-AA29-4375378B4167}" type="datetimeFigureOut">
              <a:rPr lang="en-US" smtClean="0"/>
              <a:t>6/9/26</a:t>
            </a:fld>
            <a:endParaRPr lang="en-US"/>
          </a:p>
        </p:txBody>
      </p:sp>
      <p:sp>
        <p:nvSpPr>
          <p:cNvPr id="4" name="Footer Placeholder 3">
            <a:extLst>
              <a:ext uri="{FF2B5EF4-FFF2-40B4-BE49-F238E27FC236}">
                <a16:creationId xmlns:a16="http://schemas.microsoft.com/office/drawing/2014/main" id="{072F3537-410A-B7F8-430A-721419008D2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07C2C70-BEC0-CE41-2EF9-D629361497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122D6AB-674B-6848-89E6-69A39A6FBD6F}" type="slidenum">
              <a:rPr lang="en-US" smtClean="0"/>
              <a:t>‹#›</a:t>
            </a:fld>
            <a:endParaRPr lang="en-US"/>
          </a:p>
        </p:txBody>
      </p:sp>
    </p:spTree>
    <p:extLst>
      <p:ext uri="{BB962C8B-B14F-4D97-AF65-F5344CB8AC3E}">
        <p14:creationId xmlns:p14="http://schemas.microsoft.com/office/powerpoint/2010/main" val="5627835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F05AB0-F05C-8A40-9DC9-2A281BC93A8B}" type="datetimeFigureOut">
              <a:rPr lang="en-US" smtClean="0"/>
              <a:t>6/9/26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180763-E045-9A48-B048-61B3DE2CF9C3}" type="slidenum">
              <a:rPr lang="en-US" smtClean="0"/>
              <a:t>‹#›</a:t>
            </a:fld>
            <a:endParaRPr lang="en-US"/>
          </a:p>
        </p:txBody>
      </p:sp>
    </p:spTree>
    <p:extLst>
      <p:ext uri="{BB962C8B-B14F-4D97-AF65-F5344CB8AC3E}">
        <p14:creationId xmlns:p14="http://schemas.microsoft.com/office/powerpoint/2010/main" val="114314572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BAFC2A2-297C-8249-822D-D20116F4E9A5}"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B90E15-97ED-3142-9FDE-41C79DE03E34}"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96F3E8D-2B21-3B4C-B3F4-8FC3B6BF699B}"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1223C8-3D70-2E4E-B627-42A91A35B327}"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9017A7-9F5D-6D42-938F-E0C4D510A496}" type="datetime1">
              <a:rPr lang="en-US" smtClean="0"/>
              <a:t>6/9/26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BCA14E8-55CF-7944-937B-38BF59210B81}" type="datetime1">
              <a:rPr lang="en-US" smtClean="0"/>
              <a:t>6/9/26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F884A7B-2C58-D042-AF4C-DB690E551C30}" type="datetime1">
              <a:rPr lang="en-US" smtClean="0"/>
              <a:t>6/9/26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1236BE3-9DFB-444E-90B5-B9816E9B02D9}"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0517CB7-4D15-C448-8BF3-A5544D0ABFAC}" type="datetime1">
              <a:rPr lang="en-US" smtClean="0"/>
              <a:t>6/9/26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936ED9E-5221-654F-BBF6-A23FD7D83F40}"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705DC74-A7BA-9E44-BD0C-CC23A31ADB72}"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115DA33-A76A-6C4D-B7B7-BEF7F8421BBC}"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6B9882F-F1CF-5B43-93A3-5EBBBA49E7F3}"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DFE60DD-43FB-924E-B09E-C7E60E795072}"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CB39BCC-58F3-5C49-A22F-F3AD7013BB4A}"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EDF6436-3BB0-C348-96B1-75896ACED444}" type="datetime1">
              <a:rPr lang="en-US" smtClean="0"/>
              <a:t>6/9/26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1A1183-611A-9344-95DF-15D3F534F057}" type="datetime1">
              <a:rPr lang="en-US" smtClean="0"/>
              <a:t>6/9/26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orldclass.regis.edu/d2l/home/37603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15740-0127-9E8D-5A7C-DC41DFFE102A}"/>
              </a:ext>
            </a:extLst>
          </p:cNvPr>
          <p:cNvSpPr>
            <a:spLocks noGrp="1"/>
          </p:cNvSpPr>
          <p:nvPr>
            <p:ph type="ctrTitle"/>
          </p:nvPr>
        </p:nvSpPr>
        <p:spPr>
          <a:xfrm>
            <a:off x="1340813" y="278320"/>
            <a:ext cx="7766936" cy="1646302"/>
          </a:xfrm>
        </p:spPr>
        <p:txBody>
          <a:bodyPr/>
          <a:lstStyle/>
          <a:p>
            <a:pPr algn="l"/>
            <a:r>
              <a:rPr lang="en-US" b="1" dirty="0">
                <a:solidFill>
                  <a:schemeClr val="tx1"/>
                </a:solidFill>
                <a:latin typeface="Calibri" pitchFamily="34" charset="0"/>
                <a:ea typeface="Calibri" pitchFamily="34" charset="-122"/>
                <a:cs typeface="Calibri" pitchFamily="34" charset="-120"/>
              </a:rPr>
              <a:t>Asset Rental Agreement</a:t>
            </a:r>
            <a:br>
              <a:rPr lang="en-US" b="1" dirty="0">
                <a:solidFill>
                  <a:schemeClr val="tx1"/>
                </a:solidFill>
                <a:latin typeface="Calibri" pitchFamily="34" charset="0"/>
                <a:ea typeface="Calibri" pitchFamily="34" charset="-122"/>
                <a:cs typeface="Calibri" pitchFamily="34" charset="-120"/>
              </a:rPr>
            </a:br>
            <a:r>
              <a:rPr lang="en-US" b="1" dirty="0">
                <a:solidFill>
                  <a:schemeClr val="tx1"/>
                </a:solidFill>
                <a:latin typeface="Calibri" pitchFamily="34" charset="0"/>
                <a:ea typeface="Calibri" pitchFamily="34" charset="-122"/>
                <a:cs typeface="Calibri" pitchFamily="34" charset="-120"/>
              </a:rPr>
              <a:t>&amp; Financial Analytics</a:t>
            </a:r>
            <a:endParaRPr lang="en-US" dirty="0">
              <a:solidFill>
                <a:schemeClr val="tx1"/>
              </a:solidFill>
            </a:endParaRPr>
          </a:p>
        </p:txBody>
      </p:sp>
      <p:sp>
        <p:nvSpPr>
          <p:cNvPr id="3" name="Subtitle 2">
            <a:extLst>
              <a:ext uri="{FF2B5EF4-FFF2-40B4-BE49-F238E27FC236}">
                <a16:creationId xmlns:a16="http://schemas.microsoft.com/office/drawing/2014/main" id="{28C66405-931D-663C-3384-309C43755BDE}"/>
              </a:ext>
            </a:extLst>
          </p:cNvPr>
          <p:cNvSpPr>
            <a:spLocks noGrp="1"/>
          </p:cNvSpPr>
          <p:nvPr>
            <p:ph type="subTitle" idx="1"/>
          </p:nvPr>
        </p:nvSpPr>
        <p:spPr>
          <a:xfrm>
            <a:off x="1493212" y="1924622"/>
            <a:ext cx="7766936" cy="1096899"/>
          </a:xfrm>
        </p:spPr>
        <p:txBody>
          <a:bodyPr>
            <a:normAutofit fontScale="25000" lnSpcReduction="20000"/>
          </a:bodyPr>
          <a:lstStyle/>
          <a:p>
            <a:pPr algn="l"/>
            <a:r>
              <a:rPr lang="en-US" sz="7200" b="1" i="1" dirty="0">
                <a:solidFill>
                  <a:schemeClr val="tx1"/>
                </a:solidFill>
                <a:latin typeface="Calibri" panose="020F0502020204030204" pitchFamily="34" charset="0"/>
                <a:ea typeface="Calibri" pitchFamily="34" charset="-122"/>
                <a:cs typeface="Calibri" panose="020F0502020204030204" pitchFamily="34" charset="0"/>
              </a:rPr>
              <a:t>Data Science Practicum 1 — Proposal, </a:t>
            </a:r>
            <a:r>
              <a:rPr lang="en-US" sz="7200" b="1" dirty="0">
                <a:solidFill>
                  <a:schemeClr val="tx1"/>
                </a:solidFill>
                <a:latin typeface="Calibri" panose="020F0502020204030204" pitchFamily="34" charset="0"/>
                <a:cs typeface="Calibri" panose="020F0502020204030204" pitchFamily="34" charset="0"/>
                <a:hlinkClick r:id="rId2" tooltip="MSDS692_S40_Data Science Practicum">
                  <a:extLst>
                    <a:ext uri="{A12FA001-AC4F-418D-AE19-62706E023703}">
                      <ahyp:hlinkClr xmlns:ahyp="http://schemas.microsoft.com/office/drawing/2018/hyperlinkcolor" val="tx"/>
                    </a:ext>
                  </a:extLst>
                </a:hlinkClick>
              </a:rPr>
              <a:t>MSDS692_S40_Data Science Practicum</a:t>
            </a:r>
            <a:endParaRPr lang="en-US" sz="7200" b="1" i="1" dirty="0">
              <a:solidFill>
                <a:schemeClr val="tx1"/>
              </a:solidFill>
              <a:latin typeface="Calibri" panose="020F0502020204030204" pitchFamily="34" charset="0"/>
              <a:ea typeface="Calibri" pitchFamily="34" charset="-122"/>
              <a:cs typeface="Calibri" panose="020F0502020204030204" pitchFamily="34" charset="0"/>
            </a:endParaRPr>
          </a:p>
          <a:p>
            <a:pPr algn="l"/>
            <a:endParaRPr lang="en-US" sz="7200" b="1" i="1" dirty="0">
              <a:solidFill>
                <a:schemeClr val="tx1"/>
              </a:solidFill>
              <a:latin typeface="Calibri" panose="020F0502020204030204" pitchFamily="34" charset="0"/>
              <a:cs typeface="Calibri" panose="020F0502020204030204" pitchFamily="34" charset="0"/>
            </a:endParaRPr>
          </a:p>
          <a:p>
            <a:pPr algn="l"/>
            <a:r>
              <a:rPr lang="en-US" sz="7200" b="1" dirty="0">
                <a:solidFill>
                  <a:schemeClr val="tx1"/>
                </a:solidFill>
                <a:latin typeface="Calibri" panose="020F0502020204030204" pitchFamily="34" charset="0"/>
                <a:ea typeface="Calibri" pitchFamily="34" charset="-122"/>
                <a:cs typeface="Calibri" panose="020F0502020204030204" pitchFamily="34" charset="0"/>
              </a:rPr>
              <a:t>Prakash Ghatani  |  Regis University, Denver CO  |  pghatani@regis.edu</a:t>
            </a:r>
            <a:endParaRPr lang="en-US" sz="7200" b="1" dirty="0">
              <a:solidFill>
                <a:schemeClr val="tx1"/>
              </a:solidFill>
              <a:latin typeface="Calibri" panose="020F0502020204030204" pitchFamily="34" charset="0"/>
              <a:cs typeface="Calibri" panose="020F0502020204030204" pitchFamily="34" charset="0"/>
            </a:endParaRPr>
          </a:p>
          <a:p>
            <a:endParaRPr lang="en-US"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AE324B4-A9E6-A2B9-236F-92734D181CAC}"/>
              </a:ext>
            </a:extLst>
          </p:cNvPr>
          <p:cNvSpPr txBox="1"/>
          <p:nvPr/>
        </p:nvSpPr>
        <p:spPr>
          <a:xfrm>
            <a:off x="375385" y="3836480"/>
            <a:ext cx="9697791" cy="1631216"/>
          </a:xfrm>
          <a:prstGeom prst="rect">
            <a:avLst/>
          </a:prstGeom>
          <a:noFill/>
        </p:spPr>
        <p:txBody>
          <a:bodyPr wrap="square">
            <a:spAutoFit/>
          </a:bodyPr>
          <a:lstStyle/>
          <a:p>
            <a:r>
              <a:rPr lang="en-US" sz="2000" dirty="0">
                <a:solidFill>
                  <a:srgbClr val="1F2328"/>
                </a:solidFill>
                <a:latin typeface="Trebuchet MS" panose="020B0703020202090204" pitchFamily="34" charset="0"/>
                <a:cs typeface="Calibri" panose="020F0502020204030204" pitchFamily="34" charset="0"/>
              </a:rPr>
              <a:t>This portfolio project is an analysis of an active lease asset report for Lexmark International Inc.The aim is to gain understanding of the asset rental costs, contract exposures, vendor patterns, missing data problems and the factors that assist in predicting the monthly asset rental. The project allows for the prediction of future rental costs using data analysis and machine learning.</a:t>
            </a:r>
            <a:endParaRPr lang="en-US" sz="2000" dirty="0">
              <a:latin typeface="Trebuchet MS" panose="020B0703020202090204" pitchFamily="34" charset="0"/>
              <a:cs typeface="Calibri" panose="020F0502020204030204" pitchFamily="34" charset="0"/>
            </a:endParaRPr>
          </a:p>
        </p:txBody>
      </p:sp>
      <p:sp>
        <p:nvSpPr>
          <p:cNvPr id="7" name="Slide Number Placeholder 6">
            <a:extLst>
              <a:ext uri="{FF2B5EF4-FFF2-40B4-BE49-F238E27FC236}">
                <a16:creationId xmlns:a16="http://schemas.microsoft.com/office/drawing/2014/main" id="{BB0EA51B-451A-688B-CA82-A1F41BBE222C}"/>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77190944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28460BD8-AE3F-4AC9-9D0B-717052AA5D3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4" name="Straight Connector 13">
              <a:extLst>
                <a:ext uri="{FF2B5EF4-FFF2-40B4-BE49-F238E27FC236}">
                  <a16:creationId xmlns:a16="http://schemas.microsoft.com/office/drawing/2014/main" id="{54420CFE-F482-466E-9E1E-C78513C0B85D}"/>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5331032B-BD21-4BDA-920C-12E358052567}"/>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E7514DA3-59E7-409E-8A3B-AD097F6E5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57B9A2A6-3BE4-4599-9364-F71C5BFD61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4FD744C6-4ED8-4BC9-BF68-6BDF701C5D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092C5BAD-C911-4F8F-A1C5-470268BE6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B133D0C8-4EC4-424F-8E70-0482D5B1B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7B1532A0-F4B3-4DE8-B18F-740CAAD25A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8EFDD162-BBBA-4062-8BBF-53DBA10913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DCFC9E65-3E19-4483-B952-25D29683CA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25" name="Rectangle 24">
            <a:extLst>
              <a:ext uri="{FF2B5EF4-FFF2-40B4-BE49-F238E27FC236}">
                <a16:creationId xmlns:a16="http://schemas.microsoft.com/office/drawing/2014/main" id="{DD6BC9EB-F181-48AB-BCA2-3D1DB20D2D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66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148FCA-BF67-FA9E-F6A0-F81D07A99479}"/>
              </a:ext>
            </a:extLst>
          </p:cNvPr>
          <p:cNvSpPr>
            <a:spLocks noGrp="1"/>
          </p:cNvSpPr>
          <p:nvPr>
            <p:ph type="title"/>
          </p:nvPr>
        </p:nvSpPr>
        <p:spPr>
          <a:xfrm>
            <a:off x="140695" y="315656"/>
            <a:ext cx="7377462" cy="3904652"/>
          </a:xfrm>
        </p:spPr>
        <p:txBody>
          <a:bodyPr vert="horz" lIns="91440" tIns="45720" rIns="91440" bIns="45720" rtlCol="0" anchor="ctr">
            <a:normAutofit/>
          </a:bodyPr>
          <a:lstStyle/>
          <a:p>
            <a:pPr algn="r">
              <a:lnSpc>
                <a:spcPct val="90000"/>
              </a:lnSpc>
            </a:pPr>
            <a:r>
              <a:rPr lang="en-US" sz="2600" dirty="0">
                <a:solidFill>
                  <a:schemeClr val="tx1"/>
                </a:solidFill>
              </a:rPr>
              <a:t>A company has many leased assets across contracts, vendors, manufacturers, and locations. Without analytics, it is hard to identify expensive assets, rental unusual, upcoming contract risks, and cost-saving opportunities.</a:t>
            </a:r>
            <a:br>
              <a:rPr lang="en-US" sz="2600" dirty="0">
                <a:solidFill>
                  <a:schemeClr val="tx1"/>
                </a:solidFill>
              </a:rPr>
            </a:br>
            <a:br>
              <a:rPr lang="en-US" sz="2600" dirty="0">
                <a:solidFill>
                  <a:schemeClr val="tx1"/>
                </a:solidFill>
              </a:rPr>
            </a:br>
            <a:r>
              <a:rPr lang="en-US" sz="2600" b="1" dirty="0">
                <a:solidFill>
                  <a:schemeClr val="tx1"/>
                </a:solidFill>
              </a:rPr>
              <a:t>Main prediction target:</a:t>
            </a:r>
            <a:r>
              <a:rPr lang="en-US" sz="2600" dirty="0">
                <a:solidFill>
                  <a:schemeClr val="tx1"/>
                </a:solidFill>
              </a:rPr>
              <a:t> </a:t>
            </a:r>
            <a:r>
              <a:rPr lang="en-US" sz="2400" b="1" dirty="0">
                <a:solidFill>
                  <a:schemeClr val="tx1"/>
                </a:solidFill>
              </a:rPr>
              <a:t>Asset Rental Expenses</a:t>
            </a:r>
          </a:p>
        </p:txBody>
      </p:sp>
      <p:sp>
        <p:nvSpPr>
          <p:cNvPr id="8" name="TextBox 7">
            <a:extLst>
              <a:ext uri="{FF2B5EF4-FFF2-40B4-BE49-F238E27FC236}">
                <a16:creationId xmlns:a16="http://schemas.microsoft.com/office/drawing/2014/main" id="{7A267543-4677-66A9-947D-68297F2C979B}"/>
              </a:ext>
            </a:extLst>
          </p:cNvPr>
          <p:cNvSpPr txBox="1"/>
          <p:nvPr/>
        </p:nvSpPr>
        <p:spPr>
          <a:xfrm>
            <a:off x="7871971" y="537141"/>
            <a:ext cx="3123620" cy="4479852"/>
          </a:xfrm>
          <a:prstGeom prst="rect">
            <a:avLst/>
          </a:prstGeom>
        </p:spPr>
        <p:txBody>
          <a:bodyPr vert="horz" lIns="91440" tIns="45720" rIns="91440" bIns="45720" rtlCol="0" anchor="ctr">
            <a:normAutofit/>
          </a:bodyPr>
          <a:lstStyle/>
          <a:p>
            <a:pPr>
              <a:spcBef>
                <a:spcPts val="1000"/>
              </a:spcBef>
              <a:buClr>
                <a:schemeClr val="accent1"/>
              </a:buClr>
              <a:buSzPct val="80000"/>
            </a:pPr>
            <a:r>
              <a:rPr lang="en-US" b="1" i="0" dirty="0">
                <a:solidFill>
                  <a:schemeClr val="tx1">
                    <a:lumMod val="50000"/>
                    <a:lumOff val="50000"/>
                  </a:schemeClr>
                </a:solidFill>
                <a:effectLst/>
              </a:rPr>
              <a:t>Business Problem &amp;</a:t>
            </a:r>
          </a:p>
          <a:p>
            <a:pPr>
              <a:spcBef>
                <a:spcPts val="1000"/>
              </a:spcBef>
              <a:buClr>
                <a:schemeClr val="accent1"/>
              </a:buClr>
              <a:buSzPct val="80000"/>
            </a:pPr>
            <a:r>
              <a:rPr lang="en-US" b="1" i="0" dirty="0">
                <a:solidFill>
                  <a:schemeClr val="tx1">
                    <a:lumMod val="50000"/>
                    <a:lumOff val="50000"/>
                  </a:schemeClr>
                </a:solidFill>
                <a:effectLst/>
              </a:rPr>
              <a:t>Research Questions</a:t>
            </a:r>
          </a:p>
        </p:txBody>
      </p:sp>
      <p:sp>
        <p:nvSpPr>
          <p:cNvPr id="46" name="Isosceles Triangle 26">
            <a:extLst>
              <a:ext uri="{FF2B5EF4-FFF2-40B4-BE49-F238E27FC236}">
                <a16:creationId xmlns:a16="http://schemas.microsoft.com/office/drawing/2014/main" id="{D33AAA80-39DC-4020-9BFF-0718F35C7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47" name="Straight Connector 46">
            <a:extLst>
              <a:ext uri="{FF2B5EF4-FFF2-40B4-BE49-F238E27FC236}">
                <a16:creationId xmlns:a16="http://schemas.microsoft.com/office/drawing/2014/main" id="{C9C5D90B-7EE3-4D26-AB7D-A5A3A6E112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4656" y="1639186"/>
            <a:ext cx="0" cy="3200400"/>
          </a:xfrm>
          <a:prstGeom prst="line">
            <a:avLst/>
          </a:prstGeom>
        </p:spPr>
        <p:style>
          <a:lnRef idx="1">
            <a:schemeClr val="accent1"/>
          </a:lnRef>
          <a:fillRef idx="0">
            <a:schemeClr val="accent1"/>
          </a:fillRef>
          <a:effectRef idx="0">
            <a:schemeClr val="accent1"/>
          </a:effectRef>
          <a:fontRef idx="minor">
            <a:schemeClr val="tx1"/>
          </a:fontRef>
        </p:style>
      </p:cxnSp>
      <p:sp>
        <p:nvSpPr>
          <p:cNvPr id="48" name="Isosceles Triangle 30">
            <a:extLst>
              <a:ext uri="{FF2B5EF4-FFF2-40B4-BE49-F238E27FC236}">
                <a16:creationId xmlns:a16="http://schemas.microsoft.com/office/drawing/2014/main" id="{1177F295-741F-4EFF-B0CA-BE69295AD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flipV="1">
            <a:off x="11349404" y="1217756"/>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Rectangle 2">
            <a:extLst>
              <a:ext uri="{FF2B5EF4-FFF2-40B4-BE49-F238E27FC236}">
                <a16:creationId xmlns:a16="http://schemas.microsoft.com/office/drawing/2014/main" id="{90E27C57-C2F1-D8EC-16A6-112AF41F8A99}"/>
              </a:ext>
            </a:extLst>
          </p:cNvPr>
          <p:cNvSpPr>
            <a:spLocks noChangeArrowheads="1"/>
          </p:cNvSpPr>
          <p:nvPr/>
        </p:nvSpPr>
        <p:spPr bwMode="auto">
          <a:xfrm>
            <a:off x="553799" y="3724332"/>
            <a:ext cx="6875974"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vendors and manufacturers have the highest rental costs?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asset types generate the highest monthly rental amounts?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Are there any unusual rental amounts compared to asset costs?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Which factors best predict asset rental amounts?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Trebuchet MS" panose="020B0703020202090204" pitchFamily="34" charset="0"/>
                <a:cs typeface="Calibri" panose="020F0502020204030204" pitchFamily="34" charset="0"/>
              </a:rPr>
              <a:t> How can lease costs be reduced and lease management improved?</a:t>
            </a:r>
          </a:p>
        </p:txBody>
      </p:sp>
      <p:sp>
        <p:nvSpPr>
          <p:cNvPr id="4" name="Slide Number Placeholder 3">
            <a:extLst>
              <a:ext uri="{FF2B5EF4-FFF2-40B4-BE49-F238E27FC236}">
                <a16:creationId xmlns:a16="http://schemas.microsoft.com/office/drawing/2014/main" id="{E8C5FFF0-FCFC-A856-F1AD-6E9B5A2E4DA9}"/>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742611599"/>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DE10C94-7647-FB56-C58B-3EF4157D6CB4}"/>
              </a:ext>
            </a:extLst>
          </p:cNvPr>
          <p:cNvSpPr txBox="1"/>
          <p:nvPr/>
        </p:nvSpPr>
        <p:spPr>
          <a:xfrm>
            <a:off x="2149158" y="236459"/>
            <a:ext cx="6098146" cy="369332"/>
          </a:xfrm>
          <a:prstGeom prst="rect">
            <a:avLst/>
          </a:prstGeom>
          <a:noFill/>
        </p:spPr>
        <p:txBody>
          <a:bodyPr wrap="square">
            <a:spAutoFit/>
          </a:bodyPr>
          <a:lstStyle/>
          <a:p>
            <a:pPr algn="l">
              <a:spcBef>
                <a:spcPts val="1800"/>
              </a:spcBef>
              <a:spcAft>
                <a:spcPts val="1200"/>
              </a:spcAft>
              <a:buNone/>
            </a:pPr>
            <a:r>
              <a:rPr lang="en-US" b="1" i="0" dirty="0">
                <a:solidFill>
                  <a:srgbClr val="1F2328"/>
                </a:solidFill>
                <a:effectLst/>
                <a:latin typeface="Trebuchet MS" panose="020B0703020202090204" pitchFamily="34" charset="0"/>
              </a:rPr>
              <a:t>Accessing the Data and Data Analysis</a:t>
            </a:r>
          </a:p>
        </p:txBody>
      </p:sp>
      <p:sp>
        <p:nvSpPr>
          <p:cNvPr id="18" name="TextBox 17">
            <a:extLst>
              <a:ext uri="{FF2B5EF4-FFF2-40B4-BE49-F238E27FC236}">
                <a16:creationId xmlns:a16="http://schemas.microsoft.com/office/drawing/2014/main" id="{C4036035-C26D-0632-28D1-D4A8A3265373}"/>
              </a:ext>
            </a:extLst>
          </p:cNvPr>
          <p:cNvSpPr txBox="1"/>
          <p:nvPr/>
        </p:nvSpPr>
        <p:spPr>
          <a:xfrm>
            <a:off x="222742" y="967143"/>
            <a:ext cx="4453408" cy="1785104"/>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Load the Excel file</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Review rows, columns, data types, and missing values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Define the business goal and prediction target</a:t>
            </a:r>
          </a:p>
        </p:txBody>
      </p:sp>
      <p:sp>
        <p:nvSpPr>
          <p:cNvPr id="31" name="TextBox 30">
            <a:extLst>
              <a:ext uri="{FF2B5EF4-FFF2-40B4-BE49-F238E27FC236}">
                <a16:creationId xmlns:a16="http://schemas.microsoft.com/office/drawing/2014/main" id="{1469A793-8683-6491-B245-62872A3A25DE}"/>
              </a:ext>
            </a:extLst>
          </p:cNvPr>
          <p:cNvSpPr txBox="1"/>
          <p:nvPr/>
        </p:nvSpPr>
        <p:spPr>
          <a:xfrm>
            <a:off x="4844559" y="904757"/>
            <a:ext cx="4453408" cy="2092881"/>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Descriptive statistics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Vendor and manufacturer cost analysis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Rental amount distribution</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Asset cost vs rental amount relationship</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Missing data visualization</a:t>
            </a:r>
          </a:p>
        </p:txBody>
      </p:sp>
      <p:pic>
        <p:nvPicPr>
          <p:cNvPr id="37" name="Picture 36">
            <a:extLst>
              <a:ext uri="{FF2B5EF4-FFF2-40B4-BE49-F238E27FC236}">
                <a16:creationId xmlns:a16="http://schemas.microsoft.com/office/drawing/2014/main" id="{19B20D63-7190-4A15-58B3-A7F723F919C1}"/>
              </a:ext>
            </a:extLst>
          </p:cNvPr>
          <p:cNvPicPr>
            <a:picLocks noChangeAspect="1"/>
          </p:cNvPicPr>
          <p:nvPr/>
        </p:nvPicPr>
        <p:blipFill>
          <a:blip r:embed="rId2"/>
          <a:stretch>
            <a:fillRect/>
          </a:stretch>
        </p:blipFill>
        <p:spPr>
          <a:xfrm>
            <a:off x="123987" y="3243030"/>
            <a:ext cx="4932607" cy="2409980"/>
          </a:xfrm>
          <a:prstGeom prst="rect">
            <a:avLst/>
          </a:prstGeom>
        </p:spPr>
      </p:pic>
      <p:pic>
        <p:nvPicPr>
          <p:cNvPr id="38" name="Picture 37">
            <a:extLst>
              <a:ext uri="{FF2B5EF4-FFF2-40B4-BE49-F238E27FC236}">
                <a16:creationId xmlns:a16="http://schemas.microsoft.com/office/drawing/2014/main" id="{1D5B1DE6-E69E-C702-F40C-B32EBAC36585}"/>
              </a:ext>
            </a:extLst>
          </p:cNvPr>
          <p:cNvPicPr>
            <a:picLocks noChangeAspect="1"/>
          </p:cNvPicPr>
          <p:nvPr/>
        </p:nvPicPr>
        <p:blipFill>
          <a:blip r:embed="rId3"/>
          <a:stretch>
            <a:fillRect/>
          </a:stretch>
        </p:blipFill>
        <p:spPr>
          <a:xfrm>
            <a:off x="5198231" y="3243030"/>
            <a:ext cx="4706692" cy="2409980"/>
          </a:xfrm>
          <a:prstGeom prst="rect">
            <a:avLst/>
          </a:prstGeom>
        </p:spPr>
      </p:pic>
      <p:sp>
        <p:nvSpPr>
          <p:cNvPr id="4" name="Slide Number Placeholder 3">
            <a:extLst>
              <a:ext uri="{FF2B5EF4-FFF2-40B4-BE49-F238E27FC236}">
                <a16:creationId xmlns:a16="http://schemas.microsoft.com/office/drawing/2014/main" id="{069746BF-9F4C-A7A1-5F96-0D7773FFE70A}"/>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117589088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D473A-8D75-D179-55CA-5793414D562A}"/>
              </a:ext>
            </a:extLst>
          </p:cNvPr>
          <p:cNvSpPr>
            <a:spLocks noGrp="1"/>
          </p:cNvSpPr>
          <p:nvPr>
            <p:ph type="title"/>
          </p:nvPr>
        </p:nvSpPr>
        <p:spPr>
          <a:xfrm>
            <a:off x="677334" y="442175"/>
            <a:ext cx="5321684" cy="660400"/>
          </a:xfrm>
        </p:spPr>
        <p:txBody>
          <a:bodyPr>
            <a:normAutofit fontScale="90000"/>
          </a:bodyPr>
          <a:lstStyle/>
          <a:p>
            <a:r>
              <a:rPr lang="en-US" b="1" dirty="0">
                <a:solidFill>
                  <a:schemeClr val="tx1"/>
                </a:solidFill>
              </a:rPr>
              <a:t>Prepare Data </a:t>
            </a:r>
            <a:br>
              <a:rPr lang="en-US" b="1" dirty="0"/>
            </a:br>
            <a:br>
              <a:rPr lang="en-US" dirty="0"/>
            </a:br>
            <a:endParaRPr lang="en-US" dirty="0"/>
          </a:p>
        </p:txBody>
      </p:sp>
      <p:sp>
        <p:nvSpPr>
          <p:cNvPr id="7" name="TextBox 6">
            <a:extLst>
              <a:ext uri="{FF2B5EF4-FFF2-40B4-BE49-F238E27FC236}">
                <a16:creationId xmlns:a16="http://schemas.microsoft.com/office/drawing/2014/main" id="{A815493E-A00F-9418-46F7-54936D089271}"/>
              </a:ext>
            </a:extLst>
          </p:cNvPr>
          <p:cNvSpPr txBox="1"/>
          <p:nvPr/>
        </p:nvSpPr>
        <p:spPr>
          <a:xfrm>
            <a:off x="677334" y="1448443"/>
            <a:ext cx="6339626" cy="1938992"/>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Mona Sans VF"/>
              </a:rPr>
              <a:t> </a:t>
            </a:r>
            <a:r>
              <a:rPr lang="en-US" b="0" i="0" dirty="0">
                <a:solidFill>
                  <a:srgbClr val="1F2328"/>
                </a:solidFill>
                <a:effectLst/>
                <a:latin typeface="Trebuchet MS" panose="020B0703020202090204" pitchFamily="34" charset="0"/>
              </a:rPr>
              <a:t>Clean column names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Handle missing values</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Create useful features such as rental-to-cost ratio, lease age, and days until primary term end</a:t>
            </a:r>
          </a:p>
          <a:p>
            <a:pPr algn="l">
              <a:spcAft>
                <a:spcPts val="1200"/>
              </a:spcAft>
              <a:buFont typeface="Arial" panose="020B0604020202020204" pitchFamily="34" charset="0"/>
              <a:buChar char="•"/>
            </a:pPr>
            <a:r>
              <a:rPr lang="en-US" b="0" i="0" dirty="0">
                <a:solidFill>
                  <a:srgbClr val="1F2328"/>
                </a:solidFill>
                <a:effectLst/>
                <a:latin typeface="Trebuchet MS" panose="020B0703020202090204" pitchFamily="34" charset="0"/>
              </a:rPr>
              <a:t> Encode categorical variables</a:t>
            </a:r>
          </a:p>
        </p:txBody>
      </p:sp>
      <p:pic>
        <p:nvPicPr>
          <p:cNvPr id="8" name="Picture 7">
            <a:extLst>
              <a:ext uri="{FF2B5EF4-FFF2-40B4-BE49-F238E27FC236}">
                <a16:creationId xmlns:a16="http://schemas.microsoft.com/office/drawing/2014/main" id="{4DAD4B6A-A5BD-345A-A8B2-AA44C4C81182}"/>
              </a:ext>
            </a:extLst>
          </p:cNvPr>
          <p:cNvPicPr>
            <a:picLocks noChangeAspect="1"/>
          </p:cNvPicPr>
          <p:nvPr/>
        </p:nvPicPr>
        <p:blipFill>
          <a:blip r:embed="rId2"/>
          <a:stretch>
            <a:fillRect/>
          </a:stretch>
        </p:blipFill>
        <p:spPr>
          <a:xfrm>
            <a:off x="677334" y="4045208"/>
            <a:ext cx="7772400" cy="1524319"/>
          </a:xfrm>
          <a:prstGeom prst="rect">
            <a:avLst/>
          </a:prstGeom>
        </p:spPr>
      </p:pic>
      <p:sp>
        <p:nvSpPr>
          <p:cNvPr id="4" name="Slide Number Placeholder 3">
            <a:extLst>
              <a:ext uri="{FF2B5EF4-FFF2-40B4-BE49-F238E27FC236}">
                <a16:creationId xmlns:a16="http://schemas.microsoft.com/office/drawing/2014/main" id="{328F86DC-BAA1-0F42-7967-25D71145B85F}"/>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3688382150"/>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F5F53-BBA8-AB75-CD61-9F6D066458AE}"/>
              </a:ext>
            </a:extLst>
          </p:cNvPr>
          <p:cNvSpPr>
            <a:spLocks noGrp="1"/>
          </p:cNvSpPr>
          <p:nvPr>
            <p:ph type="title"/>
          </p:nvPr>
        </p:nvSpPr>
        <p:spPr>
          <a:xfrm>
            <a:off x="677334" y="609600"/>
            <a:ext cx="2938468" cy="5431762"/>
          </a:xfrm>
        </p:spPr>
        <p:txBody>
          <a:bodyPr vert="horz" lIns="91440" tIns="45720" rIns="91440" bIns="45720" rtlCol="0" anchor="ctr">
            <a:normAutofit/>
          </a:bodyPr>
          <a:lstStyle/>
          <a:p>
            <a:r>
              <a:rPr lang="en-US" b="1" dirty="0">
                <a:solidFill>
                  <a:schemeClr val="tx1"/>
                </a:solidFill>
              </a:rPr>
              <a:t>Regression Modeling</a:t>
            </a:r>
            <a:br>
              <a:rPr lang="en-US" b="1" dirty="0"/>
            </a:br>
            <a:endParaRPr lang="en-US" dirty="0"/>
          </a:p>
        </p:txBody>
      </p:sp>
      <p:sp>
        <p:nvSpPr>
          <p:cNvPr id="5" name="TextBox 4">
            <a:extLst>
              <a:ext uri="{FF2B5EF4-FFF2-40B4-BE49-F238E27FC236}">
                <a16:creationId xmlns:a16="http://schemas.microsoft.com/office/drawing/2014/main" id="{C817CB90-4B25-AEC9-59FD-5D9204EC785F}"/>
              </a:ext>
            </a:extLst>
          </p:cNvPr>
          <p:cNvSpPr txBox="1"/>
          <p:nvPr/>
        </p:nvSpPr>
        <p:spPr>
          <a:xfrm>
            <a:off x="3566320" y="402220"/>
            <a:ext cx="6492080" cy="2696134"/>
          </a:xfrm>
          <a:prstGeom prst="rect">
            <a:avLst/>
          </a:prstGeom>
        </p:spPr>
        <p:txBody>
          <a:bodyPr vert="horz" lIns="91440" tIns="45720" rIns="91440" bIns="45720" rtlCol="0">
            <a:noAutofit/>
          </a:bodyPr>
          <a:lstStyle/>
          <a:p>
            <a:pPr>
              <a:spcBef>
                <a:spcPts val="1000"/>
              </a:spcBef>
              <a:buClr>
                <a:schemeClr val="accent1"/>
              </a:buClr>
              <a:buSzPct val="80000"/>
            </a:pPr>
            <a:r>
              <a:rPr lang="en-US" sz="2200" b="0" i="0">
                <a:effectLst/>
              </a:rPr>
              <a:t>1.</a:t>
            </a:r>
            <a:r>
              <a:rPr lang="en-US" sz="2200"/>
              <a:t> </a:t>
            </a:r>
            <a:r>
              <a:rPr lang="en-US" sz="2200" b="0" i="0">
                <a:effectLst/>
              </a:rPr>
              <a:t>Linear </a:t>
            </a:r>
            <a:r>
              <a:rPr lang="en-US" sz="2200" b="0" i="0" dirty="0">
                <a:effectLst/>
              </a:rPr>
              <a:t>Regression </a:t>
            </a:r>
          </a:p>
          <a:p>
            <a:pPr>
              <a:spcBef>
                <a:spcPts val="1000"/>
              </a:spcBef>
              <a:buClr>
                <a:schemeClr val="accent1"/>
              </a:buClr>
              <a:buSzPct val="80000"/>
            </a:pPr>
            <a:r>
              <a:rPr lang="en-US" sz="2200" b="0" i="0" dirty="0">
                <a:effectLst/>
              </a:rPr>
              <a:t>2. Random Forest Regressor</a:t>
            </a:r>
          </a:p>
          <a:p>
            <a:pPr>
              <a:spcBef>
                <a:spcPts val="1000"/>
              </a:spcBef>
              <a:buClr>
                <a:schemeClr val="tx1"/>
              </a:buClr>
              <a:buSzPct val="80000"/>
            </a:pPr>
            <a:r>
              <a:rPr lang="en-US" sz="2200" b="1" i="0" dirty="0">
                <a:effectLst/>
              </a:rPr>
              <a:t>Compare model performance using </a:t>
            </a:r>
          </a:p>
          <a:p>
            <a:pPr marL="457200" indent="-457200">
              <a:spcBef>
                <a:spcPts val="1000"/>
              </a:spcBef>
              <a:buClr>
                <a:schemeClr val="tx1"/>
              </a:buClr>
              <a:buSzPct val="80000"/>
              <a:buFont typeface="+mj-lt"/>
              <a:buAutoNum type="alphaLcParenR"/>
            </a:pPr>
            <a:r>
              <a:rPr lang="en-US" sz="2200" b="0" i="0" dirty="0">
                <a:effectLst/>
              </a:rPr>
              <a:t>Mean_absolute_error</a:t>
            </a:r>
            <a:r>
              <a:rPr lang="en-US" sz="2200" dirty="0"/>
              <a:t>(MAE)</a:t>
            </a:r>
            <a:r>
              <a:rPr lang="en-US" sz="2200" b="0" i="0" dirty="0">
                <a:effectLst/>
              </a:rPr>
              <a:t>, </a:t>
            </a:r>
          </a:p>
          <a:p>
            <a:pPr marL="457200" indent="-457200">
              <a:spcBef>
                <a:spcPts val="1000"/>
              </a:spcBef>
              <a:buClr>
                <a:schemeClr val="tx1"/>
              </a:buClr>
              <a:buSzPct val="80000"/>
              <a:buFont typeface="+mj-lt"/>
              <a:buAutoNum type="alphaLcParenR"/>
            </a:pPr>
            <a:r>
              <a:rPr lang="en-US" sz="2200" b="0" i="0" dirty="0">
                <a:effectLst/>
              </a:rPr>
              <a:t>RMSE(Root Mean Squared Error), </a:t>
            </a:r>
            <a:endParaRPr lang="en-US" sz="2200" dirty="0"/>
          </a:p>
          <a:p>
            <a:pPr marL="457200" indent="-457200">
              <a:spcBef>
                <a:spcPts val="1000"/>
              </a:spcBef>
              <a:buClr>
                <a:schemeClr val="tx1"/>
              </a:buClr>
              <a:buSzPct val="80000"/>
              <a:buFont typeface="+mj-lt"/>
              <a:buAutoNum type="alphaLcParenR"/>
            </a:pPr>
            <a:r>
              <a:rPr lang="en-US" sz="2200" b="0" i="0" dirty="0">
                <a:effectLst/>
              </a:rPr>
              <a:t>R²(R-squared,Coefficient of Determination)</a:t>
            </a:r>
          </a:p>
        </p:txBody>
      </p:sp>
      <p:pic>
        <p:nvPicPr>
          <p:cNvPr id="6" name="Picture 5">
            <a:extLst>
              <a:ext uri="{FF2B5EF4-FFF2-40B4-BE49-F238E27FC236}">
                <a16:creationId xmlns:a16="http://schemas.microsoft.com/office/drawing/2014/main" id="{BD21F9FA-7333-F283-D6C0-E5B0E35A56BD}"/>
              </a:ext>
            </a:extLst>
          </p:cNvPr>
          <p:cNvPicPr>
            <a:picLocks noChangeAspect="1"/>
          </p:cNvPicPr>
          <p:nvPr/>
        </p:nvPicPr>
        <p:blipFill>
          <a:blip r:embed="rId2"/>
          <a:stretch>
            <a:fillRect/>
          </a:stretch>
        </p:blipFill>
        <p:spPr>
          <a:xfrm>
            <a:off x="3549054" y="3430989"/>
            <a:ext cx="6058337" cy="1397359"/>
          </a:xfrm>
          <a:prstGeom prst="rect">
            <a:avLst/>
          </a:prstGeom>
        </p:spPr>
      </p:pic>
      <p:sp>
        <p:nvSpPr>
          <p:cNvPr id="4" name="Slide Number Placeholder 3">
            <a:extLst>
              <a:ext uri="{FF2B5EF4-FFF2-40B4-BE49-F238E27FC236}">
                <a16:creationId xmlns:a16="http://schemas.microsoft.com/office/drawing/2014/main" id="{E41B78C5-B695-57F2-9CF6-A3CAFCB70308}"/>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4290183088"/>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389C2C6-C850-C9CE-8E66-7607F282FC99}"/>
              </a:ext>
            </a:extLst>
          </p:cNvPr>
          <p:cNvSpPr txBox="1"/>
          <p:nvPr/>
        </p:nvSpPr>
        <p:spPr>
          <a:xfrm>
            <a:off x="357388" y="228568"/>
            <a:ext cx="9143074" cy="646331"/>
          </a:xfrm>
          <a:prstGeom prst="rect">
            <a:avLst/>
          </a:prstGeom>
          <a:noFill/>
        </p:spPr>
        <p:txBody>
          <a:bodyPr wrap="square">
            <a:spAutoFit/>
          </a:bodyPr>
          <a:lstStyle/>
          <a:p>
            <a:pPr algn="l">
              <a:spcBef>
                <a:spcPts val="1800"/>
              </a:spcBef>
              <a:spcAft>
                <a:spcPts val="1200"/>
              </a:spcAft>
              <a:buNone/>
            </a:pPr>
            <a:r>
              <a:rPr lang="en-US" sz="3600" b="1" i="0" dirty="0">
                <a:solidFill>
                  <a:srgbClr val="1F2328"/>
                </a:solidFill>
                <a:effectLst/>
                <a:latin typeface="Mona Sans VF"/>
              </a:rPr>
              <a:t>Model Evaluation and Visualization</a:t>
            </a:r>
          </a:p>
        </p:txBody>
      </p:sp>
      <p:sp>
        <p:nvSpPr>
          <p:cNvPr id="7" name="TextBox 6">
            <a:extLst>
              <a:ext uri="{FF2B5EF4-FFF2-40B4-BE49-F238E27FC236}">
                <a16:creationId xmlns:a16="http://schemas.microsoft.com/office/drawing/2014/main" id="{14AB43CB-48AA-9110-C816-952694C59885}"/>
              </a:ext>
            </a:extLst>
          </p:cNvPr>
          <p:cNvSpPr txBox="1"/>
          <p:nvPr/>
        </p:nvSpPr>
        <p:spPr>
          <a:xfrm>
            <a:off x="357388" y="874899"/>
            <a:ext cx="6098146" cy="1508105"/>
          </a:xfrm>
          <a:prstGeom prst="rect">
            <a:avLst/>
          </a:prstGeom>
          <a:noFill/>
        </p:spPr>
        <p:txBody>
          <a:bodyPr wrap="square">
            <a:spAutoFit/>
          </a:bodyPr>
          <a:lstStyle/>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Actual vs predicted rental amount plot</a:t>
            </a:r>
          </a:p>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Feature importance chart</a:t>
            </a:r>
          </a:p>
          <a:p>
            <a:pPr algn="l">
              <a:spcAft>
                <a:spcPts val="1200"/>
              </a:spcAft>
              <a:buFont typeface="Arial" panose="020B0604020202020204" pitchFamily="34" charset="0"/>
              <a:buChar char="•"/>
            </a:pPr>
            <a:r>
              <a:rPr lang="en-US" sz="2400" b="0" i="0" dirty="0">
                <a:solidFill>
                  <a:srgbClr val="1F2328"/>
                </a:solidFill>
                <a:effectLst/>
                <a:latin typeface="Trebuchet MS" panose="020B0703020202090204" pitchFamily="34" charset="0"/>
              </a:rPr>
              <a:t> Residual error review</a:t>
            </a:r>
          </a:p>
        </p:txBody>
      </p:sp>
      <p:pic>
        <p:nvPicPr>
          <p:cNvPr id="8" name="Picture 7">
            <a:extLst>
              <a:ext uri="{FF2B5EF4-FFF2-40B4-BE49-F238E27FC236}">
                <a16:creationId xmlns:a16="http://schemas.microsoft.com/office/drawing/2014/main" id="{CC3F23A2-9981-5606-C84A-827BD004CA1C}"/>
              </a:ext>
            </a:extLst>
          </p:cNvPr>
          <p:cNvPicPr>
            <a:picLocks noChangeAspect="1"/>
          </p:cNvPicPr>
          <p:nvPr/>
        </p:nvPicPr>
        <p:blipFill>
          <a:blip r:embed="rId2"/>
          <a:stretch>
            <a:fillRect/>
          </a:stretch>
        </p:blipFill>
        <p:spPr>
          <a:xfrm>
            <a:off x="247917" y="2857030"/>
            <a:ext cx="4871435" cy="2613369"/>
          </a:xfrm>
          <a:prstGeom prst="rect">
            <a:avLst/>
          </a:prstGeom>
        </p:spPr>
      </p:pic>
      <p:pic>
        <p:nvPicPr>
          <p:cNvPr id="9" name="Picture 8">
            <a:extLst>
              <a:ext uri="{FF2B5EF4-FFF2-40B4-BE49-F238E27FC236}">
                <a16:creationId xmlns:a16="http://schemas.microsoft.com/office/drawing/2014/main" id="{C7DAA548-03B4-7FDB-2BB2-C511E54E244A}"/>
              </a:ext>
            </a:extLst>
          </p:cNvPr>
          <p:cNvPicPr>
            <a:picLocks noChangeAspect="1"/>
          </p:cNvPicPr>
          <p:nvPr/>
        </p:nvPicPr>
        <p:blipFill>
          <a:blip r:embed="rId3"/>
          <a:stretch>
            <a:fillRect/>
          </a:stretch>
        </p:blipFill>
        <p:spPr>
          <a:xfrm>
            <a:off x="5009882" y="2799000"/>
            <a:ext cx="4972318" cy="2671399"/>
          </a:xfrm>
          <a:prstGeom prst="rect">
            <a:avLst/>
          </a:prstGeom>
        </p:spPr>
      </p:pic>
      <p:sp>
        <p:nvSpPr>
          <p:cNvPr id="3" name="Slide Number Placeholder 2">
            <a:extLst>
              <a:ext uri="{FF2B5EF4-FFF2-40B4-BE49-F238E27FC236}">
                <a16:creationId xmlns:a16="http://schemas.microsoft.com/office/drawing/2014/main" id="{A5EB7D8C-3431-0A66-79DA-A1A82E7AD166}"/>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3337019153"/>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424ABF-8524-5DD2-419F-EF41ACE6DACD}"/>
              </a:ext>
            </a:extLst>
          </p:cNvPr>
          <p:cNvSpPr txBox="1"/>
          <p:nvPr/>
        </p:nvSpPr>
        <p:spPr>
          <a:xfrm>
            <a:off x="404446" y="609600"/>
            <a:ext cx="3211356" cy="5431762"/>
          </a:xfrm>
          <a:prstGeom prst="rect">
            <a:avLst/>
          </a:prstGeom>
        </p:spPr>
        <p:txBody>
          <a:bodyPr vert="horz" lIns="91440" tIns="45720" rIns="91440" bIns="45720" rtlCol="0" anchor="ctr">
            <a:normAutofit/>
          </a:bodyPr>
          <a:lstStyle/>
          <a:p>
            <a:pPr>
              <a:spcBef>
                <a:spcPct val="0"/>
              </a:spcBef>
              <a:spcAft>
                <a:spcPts val="1200"/>
              </a:spcAft>
            </a:pPr>
            <a:r>
              <a:rPr lang="en-US" sz="2400" b="1" i="0" dirty="0">
                <a:effectLst/>
                <a:latin typeface="+mj-lt"/>
                <a:ea typeface="+mj-ea"/>
                <a:cs typeface="+mj-cs"/>
              </a:rPr>
              <a:t>Business</a:t>
            </a:r>
            <a:r>
              <a:rPr lang="en-US" sz="2400" b="1" i="0" dirty="0">
                <a:solidFill>
                  <a:schemeClr val="accent1"/>
                </a:solidFill>
                <a:effectLst/>
                <a:latin typeface="+mj-lt"/>
                <a:ea typeface="+mj-ea"/>
                <a:cs typeface="+mj-cs"/>
              </a:rPr>
              <a:t> </a:t>
            </a:r>
            <a:r>
              <a:rPr lang="en-US" sz="2400" b="1" i="0" dirty="0">
                <a:effectLst/>
                <a:latin typeface="+mj-lt"/>
                <a:ea typeface="+mj-ea"/>
                <a:cs typeface="+mj-cs"/>
              </a:rPr>
              <a:t>Recommendations</a:t>
            </a:r>
          </a:p>
        </p:txBody>
      </p:sp>
      <p:sp>
        <p:nvSpPr>
          <p:cNvPr id="7" name="TextBox 6">
            <a:extLst>
              <a:ext uri="{FF2B5EF4-FFF2-40B4-BE49-F238E27FC236}">
                <a16:creationId xmlns:a16="http://schemas.microsoft.com/office/drawing/2014/main" id="{8796F654-CC1C-2B23-DD6E-D1DC15D42B61}"/>
              </a:ext>
            </a:extLst>
          </p:cNvPr>
          <p:cNvSpPr txBox="1"/>
          <p:nvPr/>
        </p:nvSpPr>
        <p:spPr>
          <a:xfrm>
            <a:off x="3615801" y="1436556"/>
            <a:ext cx="5466205" cy="3119946"/>
          </a:xfrm>
          <a:prstGeom prst="rect">
            <a:avLst/>
          </a:prstGeom>
        </p:spPr>
        <p:txBody>
          <a:bodyPr vert="horz" lIns="91440" tIns="45720" rIns="91440" bIns="45720" rtlCol="0">
            <a:noAutofit/>
          </a:bodyPr>
          <a:lstStyle/>
          <a:p>
            <a:pPr>
              <a:spcBef>
                <a:spcPts val="1000"/>
              </a:spcBef>
              <a:buClr>
                <a:schemeClr val="accent1"/>
              </a:buClr>
              <a:buSzPct val="80000"/>
            </a:pPr>
            <a:r>
              <a:rPr lang="en-US" sz="2400" b="1" dirty="0">
                <a:solidFill>
                  <a:schemeClr val="tx1">
                    <a:lumMod val="75000"/>
                    <a:lumOff val="25000"/>
                  </a:schemeClr>
                </a:solidFill>
              </a:rPr>
              <a:t>1. Monitor high-cost vendors and</a:t>
            </a:r>
            <a:endParaRPr lang="en-US" sz="2400" dirty="0">
              <a:solidFill>
                <a:schemeClr val="tx1">
                  <a:lumMod val="75000"/>
                  <a:lumOff val="25000"/>
                </a:schemeClr>
              </a:solidFill>
            </a:endParaRPr>
          </a:p>
          <a:p>
            <a:pPr>
              <a:spcBef>
                <a:spcPts val="1000"/>
              </a:spcBef>
              <a:buClr>
                <a:schemeClr val="accent1"/>
              </a:buClr>
              <a:buSzPct val="80000"/>
            </a:pPr>
            <a:r>
              <a:rPr lang="en-US" sz="2400" dirty="0">
                <a:solidFill>
                  <a:schemeClr val="tx1">
                    <a:lumMod val="75000"/>
                    <a:lumOff val="25000"/>
                  </a:schemeClr>
                </a:solidFill>
              </a:rPr>
              <a:t>2. </a:t>
            </a:r>
            <a:r>
              <a:rPr lang="en-US" sz="2400" b="1" dirty="0">
                <a:solidFill>
                  <a:schemeClr val="tx1">
                    <a:lumMod val="75000"/>
                    <a:lumOff val="25000"/>
                  </a:schemeClr>
                </a:solidFill>
              </a:rPr>
              <a:t>Review assets with high rental-to-cost ratio</a:t>
            </a:r>
          </a:p>
          <a:p>
            <a:pPr>
              <a:spcBef>
                <a:spcPts val="1000"/>
              </a:spcBef>
              <a:buClr>
                <a:schemeClr val="accent1"/>
              </a:buClr>
              <a:buSzPct val="80000"/>
            </a:pPr>
            <a:r>
              <a:rPr lang="en-US" sz="2400" dirty="0">
                <a:solidFill>
                  <a:schemeClr val="tx1">
                    <a:lumMod val="75000"/>
                    <a:lumOff val="25000"/>
                  </a:schemeClr>
                </a:solidFill>
              </a:rPr>
              <a:t>3. </a:t>
            </a:r>
            <a:r>
              <a:rPr lang="en-US" sz="2400" b="1" dirty="0">
                <a:solidFill>
                  <a:schemeClr val="tx1">
                    <a:lumMod val="75000"/>
                    <a:lumOff val="25000"/>
                  </a:schemeClr>
                </a:solidFill>
              </a:rPr>
              <a:t>Improve missing data quality</a:t>
            </a:r>
            <a:endParaRPr lang="en-US" sz="2400" dirty="0">
              <a:solidFill>
                <a:schemeClr val="tx1">
                  <a:lumMod val="75000"/>
                  <a:lumOff val="25000"/>
                </a:schemeClr>
              </a:solidFill>
            </a:endParaRPr>
          </a:p>
          <a:p>
            <a:pPr>
              <a:spcBef>
                <a:spcPts val="1000"/>
              </a:spcBef>
              <a:buClr>
                <a:schemeClr val="accent1"/>
              </a:buClr>
              <a:buSzPct val="80000"/>
            </a:pPr>
            <a:r>
              <a:rPr lang="en-US" sz="2400" dirty="0">
                <a:solidFill>
                  <a:schemeClr val="tx1">
                    <a:lumMod val="75000"/>
                    <a:lumOff val="25000"/>
                  </a:schemeClr>
                </a:solidFill>
              </a:rPr>
              <a:t>4. </a:t>
            </a:r>
            <a:r>
              <a:rPr lang="en-US" sz="2400" b="1" dirty="0">
                <a:solidFill>
                  <a:schemeClr val="tx1">
                    <a:lumMod val="75000"/>
                    <a:lumOff val="25000"/>
                  </a:schemeClr>
                </a:solidFill>
              </a:rPr>
              <a:t>Use the prediction model as a screening tool</a:t>
            </a:r>
          </a:p>
          <a:p>
            <a:pPr>
              <a:spcBef>
                <a:spcPts val="1000"/>
              </a:spcBef>
              <a:buClr>
                <a:schemeClr val="accent1"/>
              </a:buClr>
              <a:buSzPct val="80000"/>
            </a:pPr>
            <a:r>
              <a:rPr lang="en-US" sz="2400" dirty="0">
                <a:solidFill>
                  <a:schemeClr val="tx1">
                    <a:lumMod val="75000"/>
                    <a:lumOff val="25000"/>
                  </a:schemeClr>
                </a:solidFill>
              </a:rPr>
              <a:t>5. </a:t>
            </a:r>
            <a:r>
              <a:rPr lang="en-US" sz="2400" b="1" dirty="0">
                <a:solidFill>
                  <a:schemeClr val="tx1">
                    <a:lumMod val="75000"/>
                    <a:lumOff val="25000"/>
                  </a:schemeClr>
                </a:solidFill>
              </a:rPr>
              <a:t>Build a renewal dashboard</a:t>
            </a:r>
            <a:endParaRPr lang="en-US" sz="2400" dirty="0">
              <a:solidFill>
                <a:schemeClr val="tx1">
                  <a:lumMod val="75000"/>
                  <a:lumOff val="25000"/>
                </a:schemeClr>
              </a:solidFill>
            </a:endParaRPr>
          </a:p>
        </p:txBody>
      </p:sp>
      <p:sp>
        <p:nvSpPr>
          <p:cNvPr id="4" name="Slide Number Placeholder 3">
            <a:extLst>
              <a:ext uri="{FF2B5EF4-FFF2-40B4-BE49-F238E27FC236}">
                <a16:creationId xmlns:a16="http://schemas.microsoft.com/office/drawing/2014/main" id="{F0560DBA-1E4B-2A02-076F-2F8B2C3AD2F3}"/>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1923484739"/>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9F49329-AA6F-0630-903B-34E40C795192}"/>
              </a:ext>
            </a:extLst>
          </p:cNvPr>
          <p:cNvSpPr txBox="1"/>
          <p:nvPr/>
        </p:nvSpPr>
        <p:spPr>
          <a:xfrm>
            <a:off x="588937" y="1379350"/>
            <a:ext cx="8849532" cy="4401205"/>
          </a:xfrm>
          <a:prstGeom prst="rect">
            <a:avLst/>
          </a:prstGeom>
          <a:noFill/>
        </p:spPr>
        <p:txBody>
          <a:bodyPr wrap="square">
            <a:spAutoFit/>
          </a:bodyPr>
          <a:lstStyle/>
          <a:p>
            <a:r>
              <a:rPr lang="en-US" sz="2000" dirty="0"/>
              <a:t>The Assets rental dataset consists of </a:t>
            </a:r>
            <a:r>
              <a:rPr lang="en-US" sz="2000" b="1" dirty="0"/>
              <a:t>1,727</a:t>
            </a:r>
            <a:r>
              <a:rPr lang="en-US" sz="2000" dirty="0"/>
              <a:t> lease assets records with a total assets cost of </a:t>
            </a:r>
            <a:r>
              <a:rPr lang="en-US" sz="2000" b="1" dirty="0"/>
              <a:t>$2.06 million </a:t>
            </a:r>
            <a:r>
              <a:rPr lang="en-US" sz="2000" dirty="0"/>
              <a:t>and a monthly rental cost of </a:t>
            </a:r>
            <a:r>
              <a:rPr lang="en-US" sz="2000" b="1" dirty="0"/>
              <a:t>$171,807</a:t>
            </a:r>
            <a:r>
              <a:rPr lang="en-US" sz="2000" dirty="0"/>
              <a:t>.</a:t>
            </a:r>
          </a:p>
          <a:p>
            <a:endParaRPr lang="en-US" sz="2000" dirty="0"/>
          </a:p>
          <a:p>
            <a:r>
              <a:rPr lang="en-US" sz="2000" dirty="0"/>
              <a:t>The analysis helps us to understand lease costs, contract information, and data quality issues. Some assets are renting for more than expected, and I found some data that needs improvement.</a:t>
            </a:r>
          </a:p>
          <a:p>
            <a:endParaRPr lang="en-US" sz="2000" dirty="0"/>
          </a:p>
          <a:p>
            <a:r>
              <a:rPr lang="en-US" sz="2000" dirty="0"/>
              <a:t>Within this analysis I have predicted rental amounts on a monthly basis using machine learning models. The analysis of the results can help the company to reduce costs, improve lease management, and make better business decisions.</a:t>
            </a:r>
          </a:p>
          <a:p>
            <a:endParaRPr lang="en-US" sz="2000" dirty="0"/>
          </a:p>
          <a:p>
            <a:r>
              <a:rPr lang="en-US" sz="2000" dirty="0"/>
              <a:t>This project transforms lease data into actionable insights for financial planning and contract management.</a:t>
            </a:r>
          </a:p>
        </p:txBody>
      </p:sp>
      <p:sp>
        <p:nvSpPr>
          <p:cNvPr id="9" name="TextBox 8">
            <a:extLst>
              <a:ext uri="{FF2B5EF4-FFF2-40B4-BE49-F238E27FC236}">
                <a16:creationId xmlns:a16="http://schemas.microsoft.com/office/drawing/2014/main" id="{1A062135-A739-3511-46F2-4AD1845B1FA2}"/>
              </a:ext>
            </a:extLst>
          </p:cNvPr>
          <p:cNvSpPr txBox="1"/>
          <p:nvPr/>
        </p:nvSpPr>
        <p:spPr>
          <a:xfrm>
            <a:off x="852407" y="559252"/>
            <a:ext cx="3812583" cy="646331"/>
          </a:xfrm>
          <a:prstGeom prst="rect">
            <a:avLst/>
          </a:prstGeom>
          <a:noFill/>
        </p:spPr>
        <p:txBody>
          <a:bodyPr wrap="square">
            <a:spAutoFit/>
          </a:bodyPr>
          <a:lstStyle/>
          <a:p>
            <a:r>
              <a:rPr lang="en-US" sz="3600" b="1" dirty="0"/>
              <a:t>Data Storytelling</a:t>
            </a:r>
          </a:p>
        </p:txBody>
      </p:sp>
      <p:sp>
        <p:nvSpPr>
          <p:cNvPr id="11" name="Slide Number Placeholder 10">
            <a:extLst>
              <a:ext uri="{FF2B5EF4-FFF2-40B4-BE49-F238E27FC236}">
                <a16:creationId xmlns:a16="http://schemas.microsoft.com/office/drawing/2014/main" id="{4B1262B3-A2EA-7AB1-0C7A-1DF4E4E9B8F7}"/>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Tree>
    <p:extLst>
      <p:ext uri="{BB962C8B-B14F-4D97-AF65-F5344CB8AC3E}">
        <p14:creationId xmlns:p14="http://schemas.microsoft.com/office/powerpoint/2010/main" val="1933127928"/>
      </p:ext>
    </p:extLst>
  </p:cSld>
  <p:clrMapOvr>
    <a:masterClrMapping/>
  </p:clrMapOvr>
  <mc:AlternateContent xmlns:mc="http://schemas.openxmlformats.org/markup-compatibility/2006">
    <mc:Choice xmlns:p14="http://schemas.microsoft.com/office/powerpoint/2010/main" Requires="p14">
      <p:transition spd="slow" p14:dur="2000" advTm="2000"/>
    </mc:Choice>
    <mc:Fallback>
      <p:transition spd="slow" advTm="2000"/>
    </mc:Fallback>
  </mc:AlternateContent>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3403</TotalTime>
  <Words>522</Words>
  <Application>Microsoft Macintosh PowerPoint</Application>
  <PresentationFormat>Widescreen</PresentationFormat>
  <Paragraphs>61</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Calibri</vt:lpstr>
      <vt:lpstr>Mona Sans VF</vt:lpstr>
      <vt:lpstr>Trebuchet MS</vt:lpstr>
      <vt:lpstr>Wingdings 3</vt:lpstr>
      <vt:lpstr>Facet</vt:lpstr>
      <vt:lpstr>Asset Rental Agreement &amp; Financial Analytics</vt:lpstr>
      <vt:lpstr>A company has many leased assets across contracts, vendors, manufacturers, and locations. Without analytics, it is hard to identify expensive assets, rental unusual, upcoming contract risks, and cost-saving opportunities.  Main prediction target: Asset Rental Expenses</vt:lpstr>
      <vt:lpstr>PowerPoint Presentation</vt:lpstr>
      <vt:lpstr>Prepare Data   </vt:lpstr>
      <vt:lpstr>Regression Modeling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Ghatani, Prakash</dc:creator>
  <cp:lastModifiedBy>Ghatani, Prakash</cp:lastModifiedBy>
  <cp:revision>34</cp:revision>
  <dcterms:created xsi:type="dcterms:W3CDTF">2026-06-05T18:56:32Z</dcterms:created>
  <dcterms:modified xsi:type="dcterms:W3CDTF">2026-06-09T19:15:19Z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2026-06-05T19:21:32Z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805a822d-e887-4e82-9a51-bb75233e7225</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