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0225"/>
    <p:restoredTop sz="94684"/>
  </p:normalViewPr>
  <p:slideViewPr>
    <p:cSldViewPr snapToGrid="0">
      <p:cViewPr varScale="1">
        <p:scale>
          <a:sx n="73" d="100"/>
          <a:sy n="73" d="100"/>
        </p:scale>
        <p:origin x="208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C93E8-9451-F44C-B7B0-13CEEED41BB3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F779C9-52B1-7942-9B26-23406D91F7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021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245E6-6996-80F2-80C9-4A862D329B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BF98CD-FA78-C7E0-1E53-AA568EDC48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2F04E-86BD-9149-2009-EDFFDFAF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B555-DE2D-CE43-BE02-6D3D596B8FE9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1ADC35-2862-F545-8739-42A2619D4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A060C-6C97-02F7-905F-91938FD7E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157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9C9B2-6ECA-9A80-5C94-1DAA3DD9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6A4DA-8CE0-40A5-D226-0CC23F182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F1FEAE-6AE1-0860-FC80-9D59F6BCF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0FD9A-D20E-DC4E-8A5D-574B3D257C6B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59B3F-BA76-6CE3-B3E6-780404CA3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2A826-8997-6EEE-A0ED-DA1CF1243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10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53224-3799-9EA4-61B6-898DAB9C1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A7270-93CE-9C2C-1B7E-A21CA50CEB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FD367-6A7D-9C18-1E1C-0E7D9F08A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D0522-BE2F-194B-9892-D57F8FAFA4AA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FDA1B-45BD-A291-1F0F-8C3AB7302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171B5-5733-0BE3-E779-A15AE478F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26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1359-D488-C815-4C37-41F37B11B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09BB2-ED02-B4A3-A526-4036E4F1D5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100EF3-E7BF-4076-BABD-63E79B040D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1806D-7477-1D70-2C5E-4E4C9CFFD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35A71-0595-9B48-8DD0-C680C185C1E1}" type="datetime1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358402-A88B-749A-225C-3A40B27C9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D2DB07-F13C-20BD-3598-BB3CFF7A0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371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96829-678B-B407-4BF5-6FCCA02EC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011E57-6EC0-F55D-C9AC-2CD26E470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EA94B0-B556-9866-E803-A3FF258AF8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97FE9B-80C8-B10E-53F8-69AA48CB4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0B403F-DA63-2DCF-CB1B-956C08E8C7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D024BE-2721-0F7B-092A-2FE12F94E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E2AE4-DF71-8445-8496-EE689F0CBE06}" type="datetime1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CD05AB-FC33-5123-F0B9-4FC847E2B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0244B6-F0B7-C79D-E905-C2B16481D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920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0277-82EB-8DC8-0031-88435EB2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5FF3DA-30F0-A71B-2046-509371F1E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786F-DBE8-C642-9460-EE924779665E}" type="datetime1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DDD11-0793-9987-48E5-381E63AC1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6345AC-6A84-7F87-E6C0-2857EFD4B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696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8C4481-99C2-1D59-8D4F-6BC68C593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AEBC2-05B1-2E41-BD97-A4FF12C6B08D}" type="datetime1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A98559-8B49-026F-6880-7408509A5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F8999-07CD-F72B-2F8C-68F67BB85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404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7B303-A523-4DC6-B9AA-DAA9A30E2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7EA1A-46D3-B730-8EB4-9991454131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691B0A-2982-7C91-F29B-D684FFD5F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761C5-BAC4-79EB-CA66-3B79E1DB5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3A47-2F4E-874D-B0CE-6AA72F8C2BA9}" type="datetime1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3511A5-7AED-76C6-2D6A-EC4E34FEC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E7AE85-8D6F-2345-5046-850728D41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020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D6CDD-76C0-64A8-5BF3-1789DEDB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E68C84-118B-C07B-6EC1-2BC368B888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909440-8B1E-A276-E9F7-FB46606556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E71248-C121-3001-B8D1-56F82D415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E389C-7820-5648-9911-B1ABCF0C9961}" type="datetime1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553314-F904-2D67-889C-11273BB41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1BA67C-C835-83C1-00C5-C67A1C169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119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6802-615C-E964-47ED-0493B979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475E2A-6FD2-04D4-4341-1DE7BEF2D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AB38B7-573C-9EC2-426F-8D116A7E0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E5DB1-DAE7-944B-A18B-5138E65A1926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704ED-C4EE-47DB-7F58-A274C1681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B100F-9390-3BA2-2029-3AF6F1328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555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F7E29D-19B5-4456-9EA7-20E833F9DE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06D2E5-5986-118D-E8DC-B374619CF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E145E-45E0-8108-87EC-96BAE2C67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0CD97-543A-D94A-A330-6A4BFEA6B184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9A753-AA0C-FB9D-BD8E-8B0A8D63F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3BF06F-AC24-B18B-0ECF-FF3DE604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654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DF9960-3AC7-F1F9-E68C-0D4DB0FCD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146B0-68B1-F885-3B34-FF3843E8A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38B50-6A77-F373-3854-D369E6BFF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DEDB83-8A67-864B-BC32-D2EFC77FAAE6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BE121F-E33F-7F28-FC09-A3323A2055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92A33-9926-E651-BA7C-D84FCB6BA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D4E69C-918F-0D4D-9E50-744087777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37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orldclass.regis.edu/d2l/home/376030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87DF8-B5BE-E1A5-A809-FAF440D704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9244" y="369672"/>
            <a:ext cx="10728101" cy="2387600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Trebuchet MS" panose="020B0703020202090204" pitchFamily="34" charset="0"/>
                <a:ea typeface="Calibri" pitchFamily="34" charset="-122"/>
                <a:cs typeface="Calibri" pitchFamily="34" charset="-120"/>
              </a:rPr>
              <a:t>Asset Rental Agreement</a:t>
            </a:r>
            <a:br>
              <a:rPr lang="en-US" b="1" dirty="0">
                <a:solidFill>
                  <a:schemeClr val="tx1"/>
                </a:solidFill>
                <a:latin typeface="Trebuchet MS" panose="020B070302020209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chemeClr val="tx1"/>
                </a:solidFill>
                <a:latin typeface="Trebuchet MS" panose="020B0703020202090204" pitchFamily="34" charset="0"/>
                <a:ea typeface="Calibri" pitchFamily="34" charset="-122"/>
                <a:cs typeface="Calibri" pitchFamily="34" charset="-120"/>
              </a:rPr>
              <a:t>&amp; Financial Analytics</a:t>
            </a:r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B5581F-10FB-02D3-7BD7-75512E589AFE}"/>
              </a:ext>
            </a:extLst>
          </p:cNvPr>
          <p:cNvSpPr txBox="1"/>
          <p:nvPr/>
        </p:nvSpPr>
        <p:spPr>
          <a:xfrm>
            <a:off x="1262130" y="3176565"/>
            <a:ext cx="100841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>
                <a:latin typeface="Trebuchet MS" panose="020B0703020202090204" pitchFamily="34" charset="0"/>
                <a:ea typeface="Calibri" pitchFamily="34" charset="-122"/>
                <a:cs typeface="Calibri" panose="020F0502020204030204" pitchFamily="34" charset="0"/>
              </a:rPr>
              <a:t>Data Science Practicum 1 , </a:t>
            </a:r>
            <a:r>
              <a:rPr lang="en-US" b="1" dirty="0">
                <a:latin typeface="Trebuchet MS" panose="020B0703020202090204" pitchFamily="34" charset="0"/>
                <a:cs typeface="Calibri" panose="020F0502020204030204" pitchFamily="34" charset="0"/>
                <a:hlinkClick r:id="rId2" tooltip="MSDS692_S40_Data Science Practicum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MSDS692_S40_Data Science Practicum</a:t>
            </a:r>
            <a:endParaRPr lang="en-US" b="1" i="1" dirty="0">
              <a:latin typeface="Trebuchet MS" panose="020B070302020209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endParaRPr lang="en-US" b="1" i="1" dirty="0">
              <a:latin typeface="Trebuchet MS" panose="020B070302020209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Trebuchet MS" panose="020B0703020202090204" pitchFamily="34" charset="0"/>
                <a:ea typeface="Calibri" pitchFamily="34" charset="-122"/>
                <a:cs typeface="Calibri" panose="020F0502020204030204" pitchFamily="34" charset="0"/>
              </a:rPr>
              <a:t>Prakash Ghatani  |  Regis University, Denver CO  |  </a:t>
            </a:r>
            <a:r>
              <a:rPr lang="en-US" b="1" dirty="0" err="1">
                <a:latin typeface="Trebuchet MS" panose="020B0703020202090204" pitchFamily="34" charset="0"/>
                <a:ea typeface="Calibri" pitchFamily="34" charset="-122"/>
                <a:cs typeface="Calibri" panose="020F0502020204030204" pitchFamily="34" charset="0"/>
              </a:rPr>
              <a:t>pghatani@regis.edu</a:t>
            </a:r>
            <a:endParaRPr lang="en-US" b="1" dirty="0">
              <a:latin typeface="Trebuchet MS" panose="020B070302020209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559692-5AE9-C230-7F8B-F213036CEC28}"/>
              </a:ext>
            </a:extLst>
          </p:cNvPr>
          <p:cNvSpPr txBox="1"/>
          <p:nvPr/>
        </p:nvSpPr>
        <p:spPr>
          <a:xfrm>
            <a:off x="1378039" y="4519188"/>
            <a:ext cx="99682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F2328"/>
                </a:solidFill>
                <a:latin typeface="Trebuchet MS" panose="020B0703020202090204" pitchFamily="34" charset="0"/>
                <a:cs typeface="Calibri" panose="020F0502020204030204" pitchFamily="34" charset="0"/>
              </a:rPr>
              <a:t>This asset's rental agreement analysis helps understand rental costs, contracts, vendor information, and missing data. The project also uses data analysis and machine learning to predict future monthly rental costs.</a:t>
            </a:r>
            <a:endParaRPr lang="en-US" sz="1800" dirty="0">
              <a:latin typeface="Trebuchet MS" panose="020B070302020209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005677-C2C6-936A-3115-F68AF51A8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6229" y="176837"/>
            <a:ext cx="2438400" cy="7239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07D3B16-66A0-BEB9-8409-773EC322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1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84B0E03-94FB-EC2B-D5F7-0AD5B2700F71}"/>
              </a:ext>
            </a:extLst>
          </p:cNvPr>
          <p:cNvSpPr txBox="1"/>
          <p:nvPr/>
        </p:nvSpPr>
        <p:spPr>
          <a:xfrm>
            <a:off x="759854" y="1328138"/>
            <a:ext cx="911824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rebuchet MS" panose="020B070302020209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</a:rPr>
              <a:t> The company has many leased assets in different locations.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</a:rPr>
              <a:t> These assets are managed under different contracts, vendors, and manufacturers.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</a:rPr>
              <a:t> It is difficult to find expensive assets without data analysis.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</a:rPr>
              <a:t> It is also hard to find unusual rental costs and contract risks.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</a:rPr>
              <a:t> Data analysis can help find ways to reduce costs and improve lease management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rebuchet MS" panose="020B070302020209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latin typeface="Trebuchet MS" panose="020B0703020202090204" pitchFamily="34" charset="0"/>
              </a:rPr>
              <a:t>Main prediction target:</a:t>
            </a:r>
            <a:r>
              <a:rPr lang="en-US" dirty="0">
                <a:latin typeface="Trebuchet MS" panose="020B0703020202090204" pitchFamily="34" charset="0"/>
              </a:rPr>
              <a:t> </a:t>
            </a:r>
            <a:r>
              <a:rPr lang="en-US" sz="1600" b="1" dirty="0">
                <a:latin typeface="Trebuchet MS" panose="020B0703020202090204" pitchFamily="34" charset="0"/>
              </a:rPr>
              <a:t>Asset Rental Expenses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rebuchet MS" panose="020B070302020209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B07F47-835A-B287-1686-BA4D890DB376}"/>
              </a:ext>
            </a:extLst>
          </p:cNvPr>
          <p:cNvSpPr txBox="1"/>
          <p:nvPr/>
        </p:nvSpPr>
        <p:spPr>
          <a:xfrm>
            <a:off x="759854" y="4010156"/>
            <a:ext cx="726368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rebuchet MS" panose="020B070302020209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  <a:cs typeface="Calibri" panose="020F0502020204030204" pitchFamily="34" charset="0"/>
              </a:rPr>
              <a:t> Which vendors and manufacturers have the highest rental costs?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  <a:cs typeface="Calibri" panose="020F0502020204030204" pitchFamily="34" charset="0"/>
              </a:rPr>
              <a:t> Which asset types generate the highest monthly rental amounts?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  <a:cs typeface="Calibri" panose="020F0502020204030204" pitchFamily="34" charset="0"/>
              </a:rPr>
              <a:t> Are there any unusual rental amounts compared to asset costs?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  <a:cs typeface="Calibri" panose="020F0502020204030204" pitchFamily="34" charset="0"/>
              </a:rPr>
              <a:t> Which factors best predict asset rental amounts?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703020202090204" pitchFamily="34" charset="0"/>
                <a:cs typeface="Calibri" panose="020F0502020204030204" pitchFamily="34" charset="0"/>
              </a:rPr>
              <a:t> How can lease costs be reduced and lease management improved?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5862A-60B5-1166-D572-17F702EE648B}"/>
              </a:ext>
            </a:extLst>
          </p:cNvPr>
          <p:cNvSpPr txBox="1"/>
          <p:nvPr/>
        </p:nvSpPr>
        <p:spPr>
          <a:xfrm>
            <a:off x="669701" y="600501"/>
            <a:ext cx="1112734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000"/>
              </a:spcBef>
              <a:buClr>
                <a:schemeClr val="accent1"/>
              </a:buClr>
              <a:buSzPct val="80000"/>
            </a:pPr>
            <a:r>
              <a:rPr lang="en-US" sz="4000" b="1" i="0" u="sng">
                <a:effectLst/>
                <a:latin typeface="Trebuchet MS" panose="020B0703020202090204" pitchFamily="34" charset="0"/>
              </a:rPr>
              <a:t>Business Problem &amp; Research Questions</a:t>
            </a:r>
            <a:endParaRPr lang="en-US" sz="4000" b="1" i="0" u="sng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A0C893E-F0E7-94C2-2502-537C221B6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71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00C8085-2066-A3B4-AA24-8D4D15FB382A}"/>
              </a:ext>
            </a:extLst>
          </p:cNvPr>
          <p:cNvSpPr txBox="1"/>
          <p:nvPr/>
        </p:nvSpPr>
        <p:spPr>
          <a:xfrm>
            <a:off x="1107583" y="459723"/>
            <a:ext cx="916975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4000" b="1" i="0" u="sng" dirty="0">
                <a:solidFill>
                  <a:srgbClr val="1F2328"/>
                </a:solidFill>
                <a:effectLst/>
                <a:latin typeface="Trebuchet MS" panose="020B0703020202090204" pitchFamily="34" charset="0"/>
              </a:rPr>
              <a:t>Accessing the Data and Data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6F1E30-542A-57D2-2E9F-18533988888A}"/>
              </a:ext>
            </a:extLst>
          </p:cNvPr>
          <p:cNvSpPr txBox="1"/>
          <p:nvPr/>
        </p:nvSpPr>
        <p:spPr>
          <a:xfrm>
            <a:off x="653603" y="1490142"/>
            <a:ext cx="5914623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F2328"/>
                </a:solidFill>
                <a:effectLst/>
                <a:latin typeface="Trebuchet MS" panose="020B0703020202090204" pitchFamily="34" charset="0"/>
              </a:rPr>
              <a:t> Load the Excel file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F2328"/>
                </a:solidFill>
                <a:effectLst/>
                <a:latin typeface="Trebuchet MS" panose="020B0703020202090204" pitchFamily="34" charset="0"/>
              </a:rPr>
              <a:t> Review rows, columns, data types, and missing values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F2328"/>
                </a:solidFill>
                <a:effectLst/>
                <a:latin typeface="Trebuchet MS" panose="020B0703020202090204" pitchFamily="34" charset="0"/>
              </a:rPr>
              <a:t> Define the business goal and prediction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89EF0B-73B7-68F3-5B6E-A83AB7CC8562}"/>
              </a:ext>
            </a:extLst>
          </p:cNvPr>
          <p:cNvSpPr txBox="1"/>
          <p:nvPr/>
        </p:nvSpPr>
        <p:spPr>
          <a:xfrm>
            <a:off x="6568226" y="1367031"/>
            <a:ext cx="60788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Asset distribution by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F2328"/>
                </a:solidFill>
                <a:effectLst/>
                <a:latin typeface="Trebuchet MS" panose="020B0703020202090204" pitchFamily="34" charset="0"/>
              </a:rPr>
              <a:t>Vendor and manufacturer cost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F2328"/>
                </a:solidFill>
                <a:effectLst/>
                <a:latin typeface="Trebuchet MS" panose="020B0703020202090204" pitchFamily="34" charset="0"/>
              </a:rPr>
              <a:t>Rental amount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F2328"/>
                </a:solidFill>
                <a:effectLst/>
                <a:latin typeface="Trebuchet MS" panose="020B0703020202090204" pitchFamily="34" charset="0"/>
              </a:rPr>
              <a:t>Asset cost vs rental amount relationship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F2328"/>
                </a:solidFill>
                <a:effectLst/>
                <a:latin typeface="Trebuchet MS" panose="020B0703020202090204" pitchFamily="34" charset="0"/>
              </a:rPr>
              <a:t>Missing data visualization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69E57A-6CAA-E989-5575-D57407C49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3492438"/>
            <a:ext cx="6047886" cy="25134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FB69B5A-735B-FAE7-CC62-114BB44DF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735" y="3429000"/>
            <a:ext cx="6422265" cy="2513479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2CA54AA-64C3-E438-0FBC-A9BF53A68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343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0BCB0-D903-6B98-18C8-8A10C35F6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4E69C-918F-0D4D-9E50-744087777A01}" type="slidenum">
              <a:rPr lang="en-US" smtClean="0"/>
              <a:t>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221D1D-68D4-8CB8-3B99-560F32D4A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54178"/>
            <a:ext cx="5191932" cy="29533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BFC29D-0E0C-69D0-951F-7DA128F46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663" y="3254178"/>
            <a:ext cx="6099874" cy="29533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1B9AB-F259-B1D6-FE00-2128FC5D79C3}"/>
              </a:ext>
            </a:extLst>
          </p:cNvPr>
          <p:cNvSpPr txBox="1"/>
          <p:nvPr/>
        </p:nvSpPr>
        <p:spPr>
          <a:xfrm>
            <a:off x="368084" y="465796"/>
            <a:ext cx="77375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latin typeface="Trebuchet MS" panose="020B0703020202090204" pitchFamily="34" charset="0"/>
              </a:rPr>
              <a:t>Exploratory Data Analysis (EDA)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1EC33-AE17-82FD-BB13-BF912C4BA662}"/>
              </a:ext>
            </a:extLst>
          </p:cNvPr>
          <p:cNvSpPr txBox="1"/>
          <p:nvPr/>
        </p:nvSpPr>
        <p:spPr>
          <a:xfrm>
            <a:off x="188564" y="1398331"/>
            <a:ext cx="609987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rebuchet MS" panose="020B0703020202090204" pitchFamily="34" charset="0"/>
              </a:rPr>
              <a:t>Distribution of Asset Rental Amount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703020202090204" pitchFamily="34" charset="0"/>
              </a:rPr>
              <a:t>Most of time they pay between 90 dollars and 100 dollars per month for rent.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703020202090204" pitchFamily="34" charset="0"/>
              </a:rPr>
              <a:t>Some assets have much higher or lower rental costs.</a:t>
            </a:r>
          </a:p>
          <a:p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F7BAB6-AB51-71D2-32A9-02B77DE46535}"/>
              </a:ext>
            </a:extLst>
          </p:cNvPr>
          <p:cNvSpPr txBox="1"/>
          <p:nvPr/>
        </p:nvSpPr>
        <p:spPr>
          <a:xfrm>
            <a:off x="6099874" y="1386316"/>
            <a:ext cx="590356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rebuchet MS" panose="020B0703020202090204" pitchFamily="34" charset="0"/>
              </a:rPr>
              <a:t>Asset Cost vs. Monthly Rental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703020202090204" pitchFamily="34" charset="0"/>
              </a:rPr>
              <a:t>Things that cost a lot usually have rent to pay every month.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703020202090204" pitchFamily="34" charset="0"/>
              </a:rPr>
              <a:t>Some things do not work this way. The assets may need to be looked at again.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Trebuchet MS" panose="020B0703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41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/>
    </mc:Choice>
    <mc:Fallback xmlns="">
      <p:transition spd="slow" advTm="3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4E480E-E9EC-801A-648D-A8E0E66344A4}"/>
              </a:ext>
            </a:extLst>
          </p:cNvPr>
          <p:cNvSpPr txBox="1"/>
          <p:nvPr/>
        </p:nvSpPr>
        <p:spPr>
          <a:xfrm>
            <a:off x="630936" y="502920"/>
            <a:ext cx="3419856" cy="1463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u="sng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Prepare Data </a:t>
            </a:r>
            <a:endParaRPr lang="en-US" sz="4800" u="sng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969153-ACF5-7C84-3028-9483AE0617EA}"/>
              </a:ext>
            </a:extLst>
          </p:cNvPr>
          <p:cNvSpPr txBox="1"/>
          <p:nvPr/>
        </p:nvSpPr>
        <p:spPr>
          <a:xfrm>
            <a:off x="4654294" y="278969"/>
            <a:ext cx="7537705" cy="19059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indent="-2286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</a:rPr>
              <a:t> Clean column names</a:t>
            </a:r>
          </a:p>
          <a:p>
            <a:pPr indent="-2286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</a:rPr>
              <a:t> Handle missing values</a:t>
            </a:r>
          </a:p>
          <a:p>
            <a:pPr indent="-2286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</a:rPr>
              <a:t> Create useful features such as rental-to-cost ratio, lease age, and days until primary term end</a:t>
            </a:r>
          </a:p>
          <a:p>
            <a:pPr indent="-2286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</a:rPr>
              <a:t> Encode categorical variables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B7F360-14D6-21B0-C2B3-78EF3BAFF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3192466"/>
            <a:ext cx="10917936" cy="2156292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DDBBE9-BB4F-F247-D2A8-9CE5D0957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D4E69C-918F-0D4D-9E50-744087777A01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670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195EC5-6D07-7767-1DA1-880FBDC22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000" b="1" u="sng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Regression Modeling</a:t>
            </a:r>
            <a:br>
              <a:rPr lang="en-US" sz="3000" b="1" u="sng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3000" u="sng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C5CBA-1FB7-F54D-BE03-7B132329FA08}"/>
              </a:ext>
            </a:extLst>
          </p:cNvPr>
          <p:cNvSpPr txBox="1"/>
          <p:nvPr/>
        </p:nvSpPr>
        <p:spPr>
          <a:xfrm>
            <a:off x="4937759" y="797000"/>
            <a:ext cx="6894576" cy="1463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indent="-2286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</a:rPr>
              <a:t>1.</a:t>
            </a:r>
            <a:r>
              <a:rPr lang="en-US" sz="2200" dirty="0"/>
              <a:t> </a:t>
            </a:r>
            <a:r>
              <a:rPr lang="en-US" sz="2200" b="0" i="0" dirty="0">
                <a:effectLst/>
              </a:rPr>
              <a:t>Linear Regression </a:t>
            </a:r>
          </a:p>
          <a:p>
            <a:pPr indent="-2286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</a:rPr>
              <a:t>2. Random Forest Regressor</a:t>
            </a:r>
          </a:p>
          <a:p>
            <a:pPr indent="-228600">
              <a:lnSpc>
                <a:spcPct val="90000"/>
              </a:lnSpc>
              <a:spcBef>
                <a:spcPts val="1000"/>
              </a:spcBef>
              <a:buClr>
                <a:schemeClr val="tx1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2200" b="1" i="0" dirty="0">
                <a:effectLst/>
              </a:rPr>
              <a:t>Compare model performance using </a:t>
            </a:r>
          </a:p>
          <a:p>
            <a:pPr marL="457200" indent="-228600">
              <a:lnSpc>
                <a:spcPct val="90000"/>
              </a:lnSpc>
              <a:spcBef>
                <a:spcPts val="1000"/>
              </a:spcBef>
              <a:buClr>
                <a:schemeClr val="tx1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2200" b="0" i="0" dirty="0" err="1">
                <a:effectLst/>
              </a:rPr>
              <a:t>Mean_absolute_error</a:t>
            </a:r>
            <a:r>
              <a:rPr lang="en-US" sz="2200" dirty="0"/>
              <a:t>(MAE)</a:t>
            </a:r>
            <a:r>
              <a:rPr lang="en-US" sz="2200" b="0" i="0" dirty="0">
                <a:effectLst/>
              </a:rPr>
              <a:t>, </a:t>
            </a:r>
          </a:p>
          <a:p>
            <a:pPr marL="457200" indent="-228600">
              <a:lnSpc>
                <a:spcPct val="90000"/>
              </a:lnSpc>
              <a:spcBef>
                <a:spcPts val="1000"/>
              </a:spcBef>
              <a:buClr>
                <a:schemeClr val="tx1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</a:rPr>
              <a:t>RMSE(Root Mean Squared Error), </a:t>
            </a:r>
            <a:endParaRPr lang="en-US" sz="2200" dirty="0"/>
          </a:p>
          <a:p>
            <a:pPr marL="457200" indent="-228600">
              <a:lnSpc>
                <a:spcPct val="90000"/>
              </a:lnSpc>
              <a:spcBef>
                <a:spcPts val="1000"/>
              </a:spcBef>
              <a:buClr>
                <a:schemeClr val="tx1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</a:rPr>
              <a:t>R²(R-</a:t>
            </a:r>
            <a:r>
              <a:rPr lang="en-US" sz="2200" b="0" i="0" dirty="0" err="1">
                <a:effectLst/>
              </a:rPr>
              <a:t>squared,Co</a:t>
            </a:r>
            <a:r>
              <a:rPr lang="en-US" sz="2200" b="0" i="0" dirty="0">
                <a:effectLst/>
              </a:rPr>
              <a:t>-efficient of Determination)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201317-D982-986D-630C-B9B2286B4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3287999"/>
            <a:ext cx="10917936" cy="1965225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5B5D6D9-E078-7203-98F7-ABAB71E6A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D4E69C-918F-0D4D-9E50-744087777A01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3715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0" name="Rectangle 79">
            <a:extLst>
              <a:ext uri="{FF2B5EF4-FFF2-40B4-BE49-F238E27FC236}">
                <a16:creationId xmlns:a16="http://schemas.microsoft.com/office/drawing/2014/main" id="{94BFCCA4-109C-4B21-816E-144FE75C3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B05A47-264E-C9C3-AACA-D1B20FF13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81" y="680041"/>
            <a:ext cx="3895359" cy="18466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b="1" u="sng" dirty="0"/>
              <a:t>Model Evaluation and Visualization</a:t>
            </a:r>
            <a:br>
              <a:rPr lang="en-US" sz="3800" b="1" u="sng" dirty="0"/>
            </a:br>
            <a:endParaRPr lang="en-US" sz="3800" b="1" u="sng" dirty="0"/>
          </a:p>
        </p:txBody>
      </p:sp>
      <p:sp>
        <p:nvSpPr>
          <p:cNvPr id="82" name="sketch line">
            <a:extLst>
              <a:ext uri="{FF2B5EF4-FFF2-40B4-BE49-F238E27FC236}">
                <a16:creationId xmlns:a16="http://schemas.microsoft.com/office/drawing/2014/main" id="{0059B5C0-FEC8-4370-AF45-02E3AEF6F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659144"/>
            <a:ext cx="3566160" cy="18288"/>
          </a:xfrm>
          <a:custGeom>
            <a:avLst/>
            <a:gdLst>
              <a:gd name="csX0" fmla="*/ 0 w 3566160"/>
              <a:gd name="csY0" fmla="*/ 0 h 18288"/>
              <a:gd name="csX1" fmla="*/ 665683 w 3566160"/>
              <a:gd name="csY1" fmla="*/ 0 h 18288"/>
              <a:gd name="csX2" fmla="*/ 1331366 w 3566160"/>
              <a:gd name="csY2" fmla="*/ 0 h 18288"/>
              <a:gd name="csX3" fmla="*/ 1818742 w 3566160"/>
              <a:gd name="csY3" fmla="*/ 0 h 18288"/>
              <a:gd name="csX4" fmla="*/ 2413102 w 3566160"/>
              <a:gd name="csY4" fmla="*/ 0 h 18288"/>
              <a:gd name="csX5" fmla="*/ 2936138 w 3566160"/>
              <a:gd name="csY5" fmla="*/ 0 h 18288"/>
              <a:gd name="csX6" fmla="*/ 3566160 w 3566160"/>
              <a:gd name="csY6" fmla="*/ 0 h 18288"/>
              <a:gd name="csX7" fmla="*/ 3566160 w 3566160"/>
              <a:gd name="csY7" fmla="*/ 18288 h 18288"/>
              <a:gd name="csX8" fmla="*/ 2971800 w 3566160"/>
              <a:gd name="csY8" fmla="*/ 18288 h 18288"/>
              <a:gd name="csX9" fmla="*/ 2448763 w 3566160"/>
              <a:gd name="csY9" fmla="*/ 18288 h 18288"/>
              <a:gd name="csX10" fmla="*/ 1854403 w 3566160"/>
              <a:gd name="csY10" fmla="*/ 18288 h 18288"/>
              <a:gd name="csX11" fmla="*/ 1295705 w 3566160"/>
              <a:gd name="csY11" fmla="*/ 18288 h 18288"/>
              <a:gd name="csX12" fmla="*/ 772668 w 3566160"/>
              <a:gd name="csY12" fmla="*/ 18288 h 18288"/>
              <a:gd name="csX13" fmla="*/ 0 w 3566160"/>
              <a:gd name="csY13" fmla="*/ 18288 h 18288"/>
              <a:gd name="csX14" fmla="*/ 0 w 3566160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566160" h="18288" fill="none" extrusionOk="0">
                <a:moveTo>
                  <a:pt x="0" y="0"/>
                </a:moveTo>
                <a:cubicBezTo>
                  <a:pt x="222644" y="15773"/>
                  <a:pt x="447078" y="-30288"/>
                  <a:pt x="665683" y="0"/>
                </a:cubicBezTo>
                <a:cubicBezTo>
                  <a:pt x="884288" y="30288"/>
                  <a:pt x="1132425" y="-6167"/>
                  <a:pt x="1331366" y="0"/>
                </a:cubicBezTo>
                <a:cubicBezTo>
                  <a:pt x="1530307" y="6167"/>
                  <a:pt x="1680942" y="17562"/>
                  <a:pt x="1818742" y="0"/>
                </a:cubicBezTo>
                <a:cubicBezTo>
                  <a:pt x="1956542" y="-17562"/>
                  <a:pt x="2130227" y="23032"/>
                  <a:pt x="2413102" y="0"/>
                </a:cubicBezTo>
                <a:cubicBezTo>
                  <a:pt x="2695977" y="-23032"/>
                  <a:pt x="2679988" y="-13260"/>
                  <a:pt x="2936138" y="0"/>
                </a:cubicBezTo>
                <a:cubicBezTo>
                  <a:pt x="3192288" y="13260"/>
                  <a:pt x="3378668" y="16268"/>
                  <a:pt x="3566160" y="0"/>
                </a:cubicBezTo>
                <a:cubicBezTo>
                  <a:pt x="3566199" y="7328"/>
                  <a:pt x="3566779" y="9982"/>
                  <a:pt x="3566160" y="18288"/>
                </a:cubicBezTo>
                <a:cubicBezTo>
                  <a:pt x="3315478" y="45899"/>
                  <a:pt x="3188272" y="-7574"/>
                  <a:pt x="2971800" y="18288"/>
                </a:cubicBezTo>
                <a:cubicBezTo>
                  <a:pt x="2755328" y="44150"/>
                  <a:pt x="2598570" y="34692"/>
                  <a:pt x="2448763" y="18288"/>
                </a:cubicBezTo>
                <a:cubicBezTo>
                  <a:pt x="2298956" y="1884"/>
                  <a:pt x="2011344" y="-7043"/>
                  <a:pt x="1854403" y="18288"/>
                </a:cubicBezTo>
                <a:cubicBezTo>
                  <a:pt x="1697462" y="43619"/>
                  <a:pt x="1444994" y="618"/>
                  <a:pt x="1295705" y="18288"/>
                </a:cubicBezTo>
                <a:cubicBezTo>
                  <a:pt x="1146416" y="35958"/>
                  <a:pt x="965401" y="42167"/>
                  <a:pt x="772668" y="18288"/>
                </a:cubicBezTo>
                <a:cubicBezTo>
                  <a:pt x="579935" y="-5591"/>
                  <a:pt x="352420" y="-19381"/>
                  <a:pt x="0" y="18288"/>
                </a:cubicBezTo>
                <a:cubicBezTo>
                  <a:pt x="-593" y="9736"/>
                  <a:pt x="244" y="6610"/>
                  <a:pt x="0" y="0"/>
                </a:cubicBezTo>
                <a:close/>
              </a:path>
              <a:path w="3566160" h="18288" stroke="0" extrusionOk="0">
                <a:moveTo>
                  <a:pt x="0" y="0"/>
                </a:moveTo>
                <a:cubicBezTo>
                  <a:pt x="169947" y="-5008"/>
                  <a:pt x="340602" y="-17518"/>
                  <a:pt x="594360" y="0"/>
                </a:cubicBezTo>
                <a:cubicBezTo>
                  <a:pt x="848118" y="17518"/>
                  <a:pt x="997921" y="8866"/>
                  <a:pt x="1224382" y="0"/>
                </a:cubicBezTo>
                <a:cubicBezTo>
                  <a:pt x="1450843" y="-8866"/>
                  <a:pt x="1572343" y="8392"/>
                  <a:pt x="1783080" y="0"/>
                </a:cubicBezTo>
                <a:cubicBezTo>
                  <a:pt x="1993817" y="-8392"/>
                  <a:pt x="2266728" y="2126"/>
                  <a:pt x="2448763" y="0"/>
                </a:cubicBezTo>
                <a:cubicBezTo>
                  <a:pt x="2630798" y="-2126"/>
                  <a:pt x="2815508" y="-13843"/>
                  <a:pt x="3043123" y="0"/>
                </a:cubicBezTo>
                <a:cubicBezTo>
                  <a:pt x="3270738" y="13843"/>
                  <a:pt x="3420568" y="2184"/>
                  <a:pt x="3566160" y="0"/>
                </a:cubicBezTo>
                <a:cubicBezTo>
                  <a:pt x="3566487" y="8595"/>
                  <a:pt x="3566088" y="13110"/>
                  <a:pt x="3566160" y="18288"/>
                </a:cubicBezTo>
                <a:cubicBezTo>
                  <a:pt x="3421748" y="9323"/>
                  <a:pt x="3176383" y="-3939"/>
                  <a:pt x="2971800" y="18288"/>
                </a:cubicBezTo>
                <a:cubicBezTo>
                  <a:pt x="2767217" y="40515"/>
                  <a:pt x="2590769" y="4336"/>
                  <a:pt x="2306117" y="18288"/>
                </a:cubicBezTo>
                <a:cubicBezTo>
                  <a:pt x="2021465" y="32240"/>
                  <a:pt x="1860727" y="-9280"/>
                  <a:pt x="1676095" y="18288"/>
                </a:cubicBezTo>
                <a:cubicBezTo>
                  <a:pt x="1491463" y="45856"/>
                  <a:pt x="1329173" y="5765"/>
                  <a:pt x="1153058" y="18288"/>
                </a:cubicBezTo>
                <a:cubicBezTo>
                  <a:pt x="976943" y="30811"/>
                  <a:pt x="895178" y="4751"/>
                  <a:pt x="665683" y="18288"/>
                </a:cubicBezTo>
                <a:cubicBezTo>
                  <a:pt x="436189" y="31825"/>
                  <a:pt x="302924" y="2002"/>
                  <a:pt x="0" y="18288"/>
                </a:cubicBezTo>
                <a:cubicBezTo>
                  <a:pt x="822" y="10564"/>
                  <a:pt x="-23" y="457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4489765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C6421-87D2-B4C7-BDD4-3C0B398E07D7}"/>
              </a:ext>
            </a:extLst>
          </p:cNvPr>
          <p:cNvSpPr txBox="1"/>
          <p:nvPr/>
        </p:nvSpPr>
        <p:spPr>
          <a:xfrm>
            <a:off x="319861" y="3240047"/>
            <a:ext cx="3895522" cy="27537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marL="3429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1143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2200" b="0" i="0" dirty="0">
              <a:effectLst/>
            </a:endParaRPr>
          </a:p>
          <a:p>
            <a:pPr marL="3429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3429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Lease commencement trend by Month</a:t>
            </a:r>
          </a:p>
          <a:p>
            <a:pPr marL="3429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Actual vs Predicted Rental Amount Forest</a:t>
            </a:r>
          </a:p>
          <a:p>
            <a:pPr marL="3429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Lease Expiration Trend by Month</a:t>
            </a:r>
          </a:p>
          <a:p>
            <a:pPr marL="3429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Top 20 Feature Importance</a:t>
            </a:r>
          </a:p>
          <a:p>
            <a:pPr indent="-2286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200" b="0" i="0" dirty="0"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604117-F601-3504-10B1-B61EB5A5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311" y="2111435"/>
            <a:ext cx="4491111" cy="15775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A308ED-0EF9-0E03-BFB8-C87DAED39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246" y="39140"/>
            <a:ext cx="5228258" cy="184802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5A13254-AA53-1C25-50FC-2FEB1CC40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9105" y="5339785"/>
            <a:ext cx="3895522" cy="15142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B6332A-E7FC-B39E-FB64-9DD8EA036F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7615" y="3825540"/>
            <a:ext cx="4735889" cy="1514245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DE6EA7-0C6F-C0EF-954A-D239EBDD3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D4E69C-918F-0D4D-9E50-744087777A01}" type="slidenum">
              <a:rPr lang="en-US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5437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C269C3-EB17-B2A3-01AC-6CB1F9006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000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Recommendations</a:t>
            </a:r>
            <a:br>
              <a:rPr lang="en-US" sz="3000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3000" b="1" u="sng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C06D24-1F19-DD57-71D6-863F4C2AAC0E}"/>
              </a:ext>
            </a:extLst>
          </p:cNvPr>
          <p:cNvSpPr txBox="1"/>
          <p:nvPr/>
        </p:nvSpPr>
        <p:spPr>
          <a:xfrm>
            <a:off x="5126418" y="552091"/>
            <a:ext cx="622433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b="1" dirty="0">
                <a:latin typeface="Aptos" panose="020B0004020202020204" pitchFamily="34" charset="0"/>
              </a:rPr>
              <a:t>Missing Values by Column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b="1" dirty="0">
                <a:latin typeface="Aptos" panose="020B0004020202020204" pitchFamily="34" charset="0"/>
              </a:rPr>
              <a:t>Asset Distribution by State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b="1" dirty="0">
                <a:latin typeface="Aptos" panose="020B0004020202020204" pitchFamily="34" charset="0"/>
              </a:rPr>
              <a:t>Distribution of Asset Rental Amount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b="1" dirty="0">
                <a:latin typeface="Aptos" panose="020B0004020202020204" pitchFamily="34" charset="0"/>
              </a:rPr>
              <a:t>Asset Cost vs Monthly Rental Amount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b="1" dirty="0">
                <a:latin typeface="Aptos" panose="020B0004020202020204" pitchFamily="34" charset="0"/>
              </a:rPr>
              <a:t>Actual vs Predicted Rental Amount: Random Forest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b="1" dirty="0">
                <a:latin typeface="Aptos" panose="020B0004020202020204" pitchFamily="34" charset="0"/>
              </a:rPr>
              <a:t>Lease Commencement Trend by Month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b="1" dirty="0">
                <a:latin typeface="Aptos" panose="020B0004020202020204" pitchFamily="34" charset="0"/>
              </a:rPr>
              <a:t>Lease Expiration Trend by Month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b="1" dirty="0">
                <a:latin typeface="Aptos" panose="020B0004020202020204" pitchFamily="34" charset="0"/>
              </a:rPr>
              <a:t>Top 20 Feature Importances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9FA21-74E0-98D7-4E29-D905A31D3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D4E69C-918F-0D4D-9E50-744087777A01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30562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1C799903-48D5-4A31-A1A2-541072D97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Freeform: Shape 37">
            <a:extLst>
              <a:ext uri="{FF2B5EF4-FFF2-40B4-BE49-F238E27FC236}">
                <a16:creationId xmlns:a16="http://schemas.microsoft.com/office/drawing/2014/main" id="{8EFFF109-FC58-4FD3-BE05-9775A131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0" name="Freeform: Shape 39">
            <a:extLst>
              <a:ext uri="{FF2B5EF4-FFF2-40B4-BE49-F238E27FC236}">
                <a16:creationId xmlns:a16="http://schemas.microsoft.com/office/drawing/2014/main" id="{E1B96AD6-92A9-4273-A62B-96A1C3E0B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AE6033-279F-330F-BD9F-2C8A28928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Conclusion</a:t>
            </a:r>
            <a:br>
              <a:rPr lang="en-US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6A7F8-2EAF-2F73-EE91-28CCF26F4C0B}"/>
              </a:ext>
            </a:extLst>
          </p:cNvPr>
          <p:cNvSpPr txBox="1"/>
          <p:nvPr/>
        </p:nvSpPr>
        <p:spPr>
          <a:xfrm>
            <a:off x="4967931" y="294467"/>
            <a:ext cx="6602277" cy="52588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effectLst/>
              </a:rPr>
              <a:t> Analyzed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</a:rPr>
              <a:t>1,727 lease assets</a:t>
            </a:r>
            <a:r>
              <a:rPr kumimoji="0" lang="en-US" altLang="en-US" sz="2200" i="0" u="none" strike="noStrike" cap="none" normalizeH="0" baseline="0" dirty="0">
                <a:ln>
                  <a:noFill/>
                </a:ln>
                <a:effectLst/>
              </a:rPr>
              <a:t> and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</a:rPr>
              <a:t>29 contracts</a:t>
            </a:r>
            <a:r>
              <a:rPr kumimoji="0" lang="en-US" altLang="en-US" sz="220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lang="en-US" altLang="en-US" sz="2200" dirty="0"/>
              <a:t>Performed data cleaning, exploratory data analysis (EDA), and predictive modeling.</a:t>
            </a:r>
          </a:p>
          <a:p>
            <a:pPr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200" dirty="0"/>
              <a:t>Found a strong relationship between asset cost and monthly rental amount.</a:t>
            </a:r>
          </a:p>
          <a:p>
            <a:pPr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200" dirty="0"/>
              <a:t>Identified missing data and pricing outliers that may require review.</a:t>
            </a:r>
          </a:p>
          <a:p>
            <a:pPr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200" dirty="0"/>
              <a:t>The model predicted rental costs and identified the key cost drivers.</a:t>
            </a:r>
          </a:p>
          <a:p>
            <a:pPr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200" dirty="0"/>
              <a:t>These insights support better lease planning and cost savings.</a:t>
            </a:r>
            <a:endParaRPr kumimoji="0" lang="en-US" altLang="en-US" sz="220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78E49-416E-E235-20F7-ECA0EF005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1362" y="6356350"/>
            <a:ext cx="100243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A4D4E69C-918F-0D4D-9E50-744087777A01}" type="slidenum"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3710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0C3B19-41E5-7FCB-AA4A-08409C74B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093788"/>
            <a:ext cx="10506455" cy="296720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b="1" u="sng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1670CE-E749-2718-D5C9-05200FEF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D4E69C-918F-0D4D-9E50-744087777A01}" type="slidenum"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5812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7495</TotalTime>
  <Words>549</Words>
  <Application>Microsoft Macintosh PowerPoint</Application>
  <PresentationFormat>Widescreen</PresentationFormat>
  <Paragraphs>84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Trebuchet MS</vt:lpstr>
      <vt:lpstr>Office Theme</vt:lpstr>
      <vt:lpstr>Asset Rental Agreement &amp; Financial Analytics</vt:lpstr>
      <vt:lpstr>PowerPoint Presentation</vt:lpstr>
      <vt:lpstr>PowerPoint Presentation</vt:lpstr>
      <vt:lpstr>PowerPoint Presentation</vt:lpstr>
      <vt:lpstr>PowerPoint Presentation</vt:lpstr>
      <vt:lpstr>Regression Modeling </vt:lpstr>
      <vt:lpstr>Model Evaluation and Visualization </vt:lpstr>
      <vt:lpstr>Business Recommendations </vt:lpstr>
      <vt:lpstr>Conclusion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Ghatani, Prakash</dc:creator>
  <cp:lastModifiedBy>Ghatani, Prakash</cp:lastModifiedBy>
  <cp:revision>19</cp:revision>
  <dcterms:created xsi:type="dcterms:W3CDTF">2026-06-18T16:45:32Z</dcterms:created>
  <dcterms:modified xsi:type="dcterms:W3CDTF">2026-06-27T19:37:42Z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6de1d5b-8b4b-4e4e-a8a1-d2976158103f_Enabled">
    <vt:lpwstr>true</vt:lpwstr>
  </property>
  <property fmtid="{D5CDD505-2E9C-101B-9397-08002B2CF9AE}" pid="3" name="MSIP_Label_a6de1d5b-8b4b-4e4e-a8a1-d2976158103f_SetDate">
    <vt:lpwstr>2026-06-18T18:08:02Z</vt:lpwstr>
  </property>
  <property fmtid="{D5CDD505-2E9C-101B-9397-08002B2CF9AE}" pid="4" name="MSIP_Label_a6de1d5b-8b4b-4e4e-a8a1-d2976158103f_Method">
    <vt:lpwstr>Standard</vt:lpwstr>
  </property>
  <property fmtid="{D5CDD505-2E9C-101B-9397-08002B2CF9AE}" pid="5" name="MSIP_Label_a6de1d5b-8b4b-4e4e-a8a1-d2976158103f_Name">
    <vt:lpwstr>defa4170-0d19-0005-0004-bc88714345d2</vt:lpwstr>
  </property>
  <property fmtid="{D5CDD505-2E9C-101B-9397-08002B2CF9AE}" pid="6" name="MSIP_Label_a6de1d5b-8b4b-4e4e-a8a1-d2976158103f_SiteId">
    <vt:lpwstr>ecd4c5d9-c2fe-4522-afd1-f0d20755d9d7</vt:lpwstr>
  </property>
  <property fmtid="{D5CDD505-2E9C-101B-9397-08002B2CF9AE}" pid="7" name="MSIP_Label_a6de1d5b-8b4b-4e4e-a8a1-d2976158103f_ActionId">
    <vt:lpwstr>90a88412-19aa-4063-9d79-e7a2136b544b</vt:lpwstr>
  </property>
  <property fmtid="{D5CDD505-2E9C-101B-9397-08002B2CF9AE}" pid="8" name="MSIP_Label_a6de1d5b-8b4b-4e4e-a8a1-d2976158103f_ContentBits">
    <vt:lpwstr>0</vt:lpwstr>
  </property>
  <property fmtid="{D5CDD505-2E9C-101B-9397-08002B2CF9AE}" pid="9" name="MSIP_Label_a6de1d5b-8b4b-4e4e-a8a1-d2976158103f_Tag">
    <vt:lpwstr>50, 3, 0, 1</vt:lpwstr>
  </property>
</Properties>
</file>