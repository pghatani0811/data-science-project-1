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225"/>
    <p:restoredTop sz="94684"/>
  </p:normalViewPr>
  <p:slideViewPr>
    <p:cSldViewPr snapToGrid="0">
      <p:cViewPr varScale="1">
        <p:scale>
          <a:sx n="73" d="100"/>
          <a:sy n="73" d="100"/>
        </p:scale>
        <p:origin x="208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17449480.2018.1433307" TargetMode="External"/><Relationship Id="rId2" Type="http://schemas.openxmlformats.org/officeDocument/2006/relationships/hyperlink" Target="https://doi.org/10.1177/0308518X19846514" TargetMode="External"/><Relationship Id="rId1" Type="http://schemas.openxmlformats.org/officeDocument/2006/relationships/hyperlink" Target="https://plotly.com/python/" TargetMode="External"/><Relationship Id="rId5" Type="http://schemas.openxmlformats.org/officeDocument/2006/relationships/hyperlink" Target="https://doi.org/10.1016/S0167-9236(03)00081-2" TargetMode="External"/><Relationship Id="rId4" Type="http://schemas.openxmlformats.org/officeDocument/2006/relationships/hyperlink" Target="https://doi.org/10.1016/j.cor.2005.03.009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17449480.2018.1433307" TargetMode="External"/><Relationship Id="rId2" Type="http://schemas.openxmlformats.org/officeDocument/2006/relationships/hyperlink" Target="https://doi.org/10.1177/0308518X19846514" TargetMode="External"/><Relationship Id="rId1" Type="http://schemas.openxmlformats.org/officeDocument/2006/relationships/hyperlink" Target="https://plotly.com/python/" TargetMode="External"/><Relationship Id="rId5" Type="http://schemas.openxmlformats.org/officeDocument/2006/relationships/hyperlink" Target="https://doi.org/10.1016/S0167-9236(03)00081-2" TargetMode="External"/><Relationship Id="rId4" Type="http://schemas.openxmlformats.org/officeDocument/2006/relationships/hyperlink" Target="https://doi.org/10.1016/j.cor.2005.03.009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79BBE6-F92A-47BB-846B-481DF5ED71F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ABE34F-310B-4F33-AA44-BC884AF98361}">
      <dgm:prSet/>
      <dgm:spPr/>
      <dgm:t>
        <a:bodyPr/>
        <a:lstStyle/>
        <a:p>
          <a:r>
            <a:rPr lang="en-US"/>
            <a:t>·  </a:t>
          </a:r>
          <a:r>
            <a:rPr lang="en-US" b="1"/>
            <a:t>Abdimanapova, G., Zhaidakbayeva, L., &amp; Aldeshov, S.</a:t>
          </a:r>
          <a:r>
            <a:rPr lang="en-US"/>
            <a:t> (2023). </a:t>
          </a:r>
          <a:r>
            <a:rPr lang="en-US" i="1"/>
            <a:t>Graphics capabilities in Python</a:t>
          </a:r>
          <a:r>
            <a:rPr lang="en-US"/>
            <a:t>. </a:t>
          </a:r>
          <a:r>
            <a:rPr lang="en-US" i="1"/>
            <a:t>Avrasya Sosyal ve Ekonomi Araştırmaları Dergisi, 10</a:t>
          </a:r>
          <a:r>
            <a:rPr lang="en-US"/>
            <a:t>(Prof. Dr. Raskul Ibragimov Özel Sayısı), 1–14. </a:t>
          </a:r>
          <a:r>
            <a:rPr lang="en-US">
              <a:hlinkClick xmlns:r="http://schemas.openxmlformats.org/officeDocument/2006/relationships" r:id="rId1"/>
            </a:rPr>
            <a:t>https://plotly.com/python/</a:t>
          </a:r>
          <a:r>
            <a:rPr lang="en-US"/>
            <a:t> </a:t>
          </a:r>
        </a:p>
      </dgm:t>
    </dgm:pt>
    <dgm:pt modelId="{4AF7DC43-0955-485C-8B75-57B17C83E26E}" type="parTrans" cxnId="{31094DA7-D616-4050-96EF-1CE1F789EFF4}">
      <dgm:prSet/>
      <dgm:spPr/>
      <dgm:t>
        <a:bodyPr/>
        <a:lstStyle/>
        <a:p>
          <a:endParaRPr lang="en-US"/>
        </a:p>
      </dgm:t>
    </dgm:pt>
    <dgm:pt modelId="{FC12CFF0-7318-40E8-9BA9-428E68F0F046}" type="sibTrans" cxnId="{31094DA7-D616-4050-96EF-1CE1F789EFF4}">
      <dgm:prSet/>
      <dgm:spPr/>
      <dgm:t>
        <a:bodyPr/>
        <a:lstStyle/>
        <a:p>
          <a:endParaRPr lang="en-US"/>
        </a:p>
      </dgm:t>
    </dgm:pt>
    <dgm:pt modelId="{D95ABA9B-0453-4FC8-81D6-4B4B72246C23}">
      <dgm:prSet/>
      <dgm:spPr/>
      <dgm:t>
        <a:bodyPr/>
        <a:lstStyle/>
        <a:p>
          <a:r>
            <a:rPr lang="en-US"/>
            <a:t>·  </a:t>
          </a:r>
          <a:r>
            <a:rPr lang="en-US" b="1"/>
            <a:t>Fields, D.</a:t>
          </a:r>
          <a:r>
            <a:rPr lang="en-US"/>
            <a:t> (2022). Automated landlord: Digital technologies and post-crisis financial accumulation. </a:t>
          </a:r>
          <a:r>
            <a:rPr lang="en-US" i="1"/>
            <a:t>Environment and Planning A: Economy and Space, 54</a:t>
          </a:r>
          <a:r>
            <a:rPr lang="en-US"/>
            <a:t>(1), 160–181. </a:t>
          </a:r>
          <a:r>
            <a:rPr lang="en-US">
              <a:hlinkClick xmlns:r="http://schemas.openxmlformats.org/officeDocument/2006/relationships" r:id="rId2"/>
            </a:rPr>
            <a:t>https://doi.org/10.1177/0308518X19846514</a:t>
          </a:r>
          <a:r>
            <a:rPr lang="en-US"/>
            <a:t> </a:t>
          </a:r>
        </a:p>
      </dgm:t>
    </dgm:pt>
    <dgm:pt modelId="{D5128AAF-007B-4108-B88E-8C0281304CC2}" type="parTrans" cxnId="{026F74BF-38F0-4C93-AEB4-6EF61B225F61}">
      <dgm:prSet/>
      <dgm:spPr/>
      <dgm:t>
        <a:bodyPr/>
        <a:lstStyle/>
        <a:p>
          <a:endParaRPr lang="en-US"/>
        </a:p>
      </dgm:t>
    </dgm:pt>
    <dgm:pt modelId="{54475B5C-6006-4E26-A288-CF8E47A03A8A}" type="sibTrans" cxnId="{026F74BF-38F0-4C93-AEB4-6EF61B225F61}">
      <dgm:prSet/>
      <dgm:spPr/>
      <dgm:t>
        <a:bodyPr/>
        <a:lstStyle/>
        <a:p>
          <a:endParaRPr lang="en-US"/>
        </a:p>
      </dgm:t>
    </dgm:pt>
    <dgm:pt modelId="{502A672E-3ED9-4EE9-A857-9BDDF5AA0112}">
      <dgm:prSet/>
      <dgm:spPr/>
      <dgm:t>
        <a:bodyPr/>
        <a:lstStyle/>
        <a:p>
          <a:r>
            <a:rPr lang="en-US"/>
            <a:t>·  </a:t>
          </a:r>
          <a:r>
            <a:rPr lang="en-US" b="1"/>
            <a:t>Krishnan, V. S., &amp; Moyer, R. C.</a:t>
          </a:r>
          <a:r>
            <a:rPr lang="en-US"/>
            <a:t> (1994). Bankruptcy costs and the financial leasing decision. </a:t>
          </a:r>
          <a:r>
            <a:rPr lang="en-US" i="1"/>
            <a:t>Financial Management, 23</a:t>
          </a:r>
          <a:r>
            <a:rPr lang="en-US"/>
            <a:t>(2), 31–42. </a:t>
          </a:r>
        </a:p>
      </dgm:t>
    </dgm:pt>
    <dgm:pt modelId="{B71F6C88-57E8-440F-BCC2-AD605D8DC867}" type="parTrans" cxnId="{1C4B8CF0-06EA-4275-B767-A85CECB72D49}">
      <dgm:prSet/>
      <dgm:spPr/>
      <dgm:t>
        <a:bodyPr/>
        <a:lstStyle/>
        <a:p>
          <a:endParaRPr lang="en-US"/>
        </a:p>
      </dgm:t>
    </dgm:pt>
    <dgm:pt modelId="{FDCA1A88-F9F4-4F9D-9F86-8E77940FAF3E}" type="sibTrans" cxnId="{1C4B8CF0-06EA-4275-B767-A85CECB72D49}">
      <dgm:prSet/>
      <dgm:spPr/>
      <dgm:t>
        <a:bodyPr/>
        <a:lstStyle/>
        <a:p>
          <a:endParaRPr lang="en-US"/>
        </a:p>
      </dgm:t>
    </dgm:pt>
    <dgm:pt modelId="{59CE85AD-3DE5-43C0-8D3F-1B5A0A58DD7C}">
      <dgm:prSet/>
      <dgm:spPr/>
      <dgm:t>
        <a:bodyPr/>
        <a:lstStyle/>
        <a:p>
          <a:r>
            <a:rPr lang="en-US"/>
            <a:t>·  </a:t>
          </a:r>
          <a:r>
            <a:rPr lang="en-US" b="1"/>
            <a:t>Morales-Díaz, J., &amp; Zamora-Ramírez, C.</a:t>
          </a:r>
          <a:r>
            <a:rPr lang="en-US"/>
            <a:t> (2018). The impact of IFRS 16 on key financial ratios: A new methodological approach. </a:t>
          </a:r>
          <a:r>
            <a:rPr lang="en-US" i="1"/>
            <a:t>Accounting in Europe, 15</a:t>
          </a:r>
          <a:r>
            <a:rPr lang="en-US"/>
            <a:t>(1), 105–133. </a:t>
          </a:r>
          <a:r>
            <a:rPr lang="en-US">
              <a:hlinkClick xmlns:r="http://schemas.openxmlformats.org/officeDocument/2006/relationships" r:id="rId3"/>
            </a:rPr>
            <a:t>https://doi.org/10.1080/17449480.2018.1433307</a:t>
          </a:r>
          <a:r>
            <a:rPr lang="en-US"/>
            <a:t> </a:t>
          </a:r>
        </a:p>
      </dgm:t>
    </dgm:pt>
    <dgm:pt modelId="{4DC5FA2A-5CD7-498C-9165-32F33F6A01B0}" type="parTrans" cxnId="{A218C0CB-0982-4CA3-924F-A3D063AD6635}">
      <dgm:prSet/>
      <dgm:spPr/>
      <dgm:t>
        <a:bodyPr/>
        <a:lstStyle/>
        <a:p>
          <a:endParaRPr lang="en-US"/>
        </a:p>
      </dgm:t>
    </dgm:pt>
    <dgm:pt modelId="{A75BCDB0-593D-4233-81D5-CEDF52BA0098}" type="sibTrans" cxnId="{A218C0CB-0982-4CA3-924F-A3D063AD6635}">
      <dgm:prSet/>
      <dgm:spPr/>
      <dgm:t>
        <a:bodyPr/>
        <a:lstStyle/>
        <a:p>
          <a:endParaRPr lang="en-US"/>
        </a:p>
      </dgm:t>
    </dgm:pt>
    <dgm:pt modelId="{D9B9122C-65EC-4F0D-AC8D-49EC938506F3}">
      <dgm:prSet/>
      <dgm:spPr/>
      <dgm:t>
        <a:bodyPr/>
        <a:lstStyle/>
        <a:p>
          <a:r>
            <a:rPr lang="en-US"/>
            <a:t>·  </a:t>
          </a:r>
          <a:r>
            <a:rPr lang="en-US" b="1"/>
            <a:t>Sharma, M., Ammons, J. C., &amp; Hartman, J. C.</a:t>
          </a:r>
          <a:r>
            <a:rPr lang="en-US"/>
            <a:t> (2007). Asset management with reverse product flows and environmental considerations. </a:t>
          </a:r>
          <a:r>
            <a:rPr lang="en-US" i="1"/>
            <a:t>Computers &amp; Operations Research, 34</a:t>
          </a:r>
          <a:r>
            <a:rPr lang="en-US"/>
            <a:t>(2), 464–486. </a:t>
          </a:r>
          <a:r>
            <a:rPr lang="en-US">
              <a:hlinkClick xmlns:r="http://schemas.openxmlformats.org/officeDocument/2006/relationships" r:id="rId4"/>
            </a:rPr>
            <a:t>https://doi.org/10.1016/j.cor.2005.03.009</a:t>
          </a:r>
          <a:r>
            <a:rPr lang="en-US"/>
            <a:t> </a:t>
          </a:r>
        </a:p>
      </dgm:t>
    </dgm:pt>
    <dgm:pt modelId="{4D65561C-E2AD-439D-A93D-EED4AC3775AE}" type="parTrans" cxnId="{1A2459FD-E9ED-4A07-ACE5-17869C95E5A5}">
      <dgm:prSet/>
      <dgm:spPr/>
      <dgm:t>
        <a:bodyPr/>
        <a:lstStyle/>
        <a:p>
          <a:endParaRPr lang="en-US"/>
        </a:p>
      </dgm:t>
    </dgm:pt>
    <dgm:pt modelId="{47E2B5BE-F332-4976-91F8-9AE6A6F59F9A}" type="sibTrans" cxnId="{1A2459FD-E9ED-4A07-ACE5-17869C95E5A5}">
      <dgm:prSet/>
      <dgm:spPr/>
      <dgm:t>
        <a:bodyPr/>
        <a:lstStyle/>
        <a:p>
          <a:endParaRPr lang="en-US"/>
        </a:p>
      </dgm:t>
    </dgm:pt>
    <dgm:pt modelId="{DF4A03E4-1EE1-4791-BA4C-B82ED70C5481}">
      <dgm:prSet/>
      <dgm:spPr/>
      <dgm:t>
        <a:bodyPr/>
        <a:lstStyle/>
        <a:p>
          <a:r>
            <a:rPr lang="en-US"/>
            <a:t>·  </a:t>
          </a:r>
          <a:r>
            <a:rPr lang="en-US" b="1"/>
            <a:t>Singh, C., Shelor, R., Jiang, J., &amp; Klein, G.</a:t>
          </a:r>
          <a:r>
            <a:rPr lang="en-US"/>
            <a:t> (2004). Rental software valuation in IT investment decisions. </a:t>
          </a:r>
          <a:r>
            <a:rPr lang="en-US" i="1"/>
            <a:t>Decision Support Systems, 38</a:t>
          </a:r>
          <a:r>
            <a:rPr lang="en-US"/>
            <a:t>(1), 115–130. </a:t>
          </a:r>
          <a:r>
            <a:rPr lang="en-US">
              <a:hlinkClick xmlns:r="http://schemas.openxmlformats.org/officeDocument/2006/relationships" r:id="rId5"/>
            </a:rPr>
            <a:t>https://doi.org/10.1016/S0167-9236(03)00081-2</a:t>
          </a:r>
          <a:endParaRPr lang="en-US"/>
        </a:p>
      </dgm:t>
    </dgm:pt>
    <dgm:pt modelId="{FA8A2361-36D3-449C-84E5-DA25213E0BCC}" type="parTrans" cxnId="{81051801-D0FF-4F27-8E5D-89D8D6028930}">
      <dgm:prSet/>
      <dgm:spPr/>
      <dgm:t>
        <a:bodyPr/>
        <a:lstStyle/>
        <a:p>
          <a:endParaRPr lang="en-US"/>
        </a:p>
      </dgm:t>
    </dgm:pt>
    <dgm:pt modelId="{C8756039-155E-4C95-9259-F90C8B0B28DA}" type="sibTrans" cxnId="{81051801-D0FF-4F27-8E5D-89D8D6028930}">
      <dgm:prSet/>
      <dgm:spPr/>
      <dgm:t>
        <a:bodyPr/>
        <a:lstStyle/>
        <a:p>
          <a:endParaRPr lang="en-US"/>
        </a:p>
      </dgm:t>
    </dgm:pt>
    <dgm:pt modelId="{B15FC683-AA0E-6845-AD5D-C4D40B739670}" type="pres">
      <dgm:prSet presAssocID="{F379BBE6-F92A-47BB-846B-481DF5ED71FF}" presName="vert0" presStyleCnt="0">
        <dgm:presLayoutVars>
          <dgm:dir/>
          <dgm:animOne val="branch"/>
          <dgm:animLvl val="lvl"/>
        </dgm:presLayoutVars>
      </dgm:prSet>
      <dgm:spPr/>
    </dgm:pt>
    <dgm:pt modelId="{3910FFD6-A17C-3E4C-9270-C125967A86CF}" type="pres">
      <dgm:prSet presAssocID="{47ABE34F-310B-4F33-AA44-BC884AF98361}" presName="thickLine" presStyleLbl="alignNode1" presStyleIdx="0" presStyleCnt="6"/>
      <dgm:spPr/>
    </dgm:pt>
    <dgm:pt modelId="{16257F41-BE75-E94C-8110-A25D475C18DF}" type="pres">
      <dgm:prSet presAssocID="{47ABE34F-310B-4F33-AA44-BC884AF98361}" presName="horz1" presStyleCnt="0"/>
      <dgm:spPr/>
    </dgm:pt>
    <dgm:pt modelId="{CD7C7B53-BC5F-A848-AAC8-2F21D3C6DC22}" type="pres">
      <dgm:prSet presAssocID="{47ABE34F-310B-4F33-AA44-BC884AF98361}" presName="tx1" presStyleLbl="revTx" presStyleIdx="0" presStyleCnt="6"/>
      <dgm:spPr/>
    </dgm:pt>
    <dgm:pt modelId="{CD03949E-078D-9349-B332-C6D3A18A2603}" type="pres">
      <dgm:prSet presAssocID="{47ABE34F-310B-4F33-AA44-BC884AF98361}" presName="vert1" presStyleCnt="0"/>
      <dgm:spPr/>
    </dgm:pt>
    <dgm:pt modelId="{A5C500FD-54A0-4345-ACDA-831D16A920D0}" type="pres">
      <dgm:prSet presAssocID="{D95ABA9B-0453-4FC8-81D6-4B4B72246C23}" presName="thickLine" presStyleLbl="alignNode1" presStyleIdx="1" presStyleCnt="6"/>
      <dgm:spPr/>
    </dgm:pt>
    <dgm:pt modelId="{A8EB5BF2-03F4-F24C-9559-9ECE7B69BB39}" type="pres">
      <dgm:prSet presAssocID="{D95ABA9B-0453-4FC8-81D6-4B4B72246C23}" presName="horz1" presStyleCnt="0"/>
      <dgm:spPr/>
    </dgm:pt>
    <dgm:pt modelId="{12948D07-3E31-C64D-BB2D-CFFA97BD03E4}" type="pres">
      <dgm:prSet presAssocID="{D95ABA9B-0453-4FC8-81D6-4B4B72246C23}" presName="tx1" presStyleLbl="revTx" presStyleIdx="1" presStyleCnt="6"/>
      <dgm:spPr/>
    </dgm:pt>
    <dgm:pt modelId="{72927B3D-5103-0F49-B172-FECD319F6424}" type="pres">
      <dgm:prSet presAssocID="{D95ABA9B-0453-4FC8-81D6-4B4B72246C23}" presName="vert1" presStyleCnt="0"/>
      <dgm:spPr/>
    </dgm:pt>
    <dgm:pt modelId="{FB6DC626-9C43-AC45-ADA8-07E68C1EEB20}" type="pres">
      <dgm:prSet presAssocID="{502A672E-3ED9-4EE9-A857-9BDDF5AA0112}" presName="thickLine" presStyleLbl="alignNode1" presStyleIdx="2" presStyleCnt="6"/>
      <dgm:spPr/>
    </dgm:pt>
    <dgm:pt modelId="{6BD9ECD3-3880-8E44-BABF-10B3614B0866}" type="pres">
      <dgm:prSet presAssocID="{502A672E-3ED9-4EE9-A857-9BDDF5AA0112}" presName="horz1" presStyleCnt="0"/>
      <dgm:spPr/>
    </dgm:pt>
    <dgm:pt modelId="{32808088-AE3F-B447-90FC-7F53FB02249A}" type="pres">
      <dgm:prSet presAssocID="{502A672E-3ED9-4EE9-A857-9BDDF5AA0112}" presName="tx1" presStyleLbl="revTx" presStyleIdx="2" presStyleCnt="6"/>
      <dgm:spPr/>
    </dgm:pt>
    <dgm:pt modelId="{3C9B55AD-8A39-B543-9AC2-B8CC14E71FDB}" type="pres">
      <dgm:prSet presAssocID="{502A672E-3ED9-4EE9-A857-9BDDF5AA0112}" presName="vert1" presStyleCnt="0"/>
      <dgm:spPr/>
    </dgm:pt>
    <dgm:pt modelId="{3ACD89C4-C395-C34F-A490-2F0826811255}" type="pres">
      <dgm:prSet presAssocID="{59CE85AD-3DE5-43C0-8D3F-1B5A0A58DD7C}" presName="thickLine" presStyleLbl="alignNode1" presStyleIdx="3" presStyleCnt="6"/>
      <dgm:spPr/>
    </dgm:pt>
    <dgm:pt modelId="{39AF5E54-8D62-9B41-950B-FDF73C691440}" type="pres">
      <dgm:prSet presAssocID="{59CE85AD-3DE5-43C0-8D3F-1B5A0A58DD7C}" presName="horz1" presStyleCnt="0"/>
      <dgm:spPr/>
    </dgm:pt>
    <dgm:pt modelId="{D1E451EE-C5E5-8440-8C0E-B5BA139A30B1}" type="pres">
      <dgm:prSet presAssocID="{59CE85AD-3DE5-43C0-8D3F-1B5A0A58DD7C}" presName="tx1" presStyleLbl="revTx" presStyleIdx="3" presStyleCnt="6"/>
      <dgm:spPr/>
    </dgm:pt>
    <dgm:pt modelId="{8AB1F80F-F4B4-224D-A65C-9C8A0AADF5D6}" type="pres">
      <dgm:prSet presAssocID="{59CE85AD-3DE5-43C0-8D3F-1B5A0A58DD7C}" presName="vert1" presStyleCnt="0"/>
      <dgm:spPr/>
    </dgm:pt>
    <dgm:pt modelId="{D6BFEEBF-4509-514A-9D6C-4F1FBD29DA44}" type="pres">
      <dgm:prSet presAssocID="{D9B9122C-65EC-4F0D-AC8D-49EC938506F3}" presName="thickLine" presStyleLbl="alignNode1" presStyleIdx="4" presStyleCnt="6"/>
      <dgm:spPr/>
    </dgm:pt>
    <dgm:pt modelId="{7D901CEC-0908-4B4B-B493-C831E67780BF}" type="pres">
      <dgm:prSet presAssocID="{D9B9122C-65EC-4F0D-AC8D-49EC938506F3}" presName="horz1" presStyleCnt="0"/>
      <dgm:spPr/>
    </dgm:pt>
    <dgm:pt modelId="{D100F06F-34CA-494B-AAA6-4FA457C7F69E}" type="pres">
      <dgm:prSet presAssocID="{D9B9122C-65EC-4F0D-AC8D-49EC938506F3}" presName="tx1" presStyleLbl="revTx" presStyleIdx="4" presStyleCnt="6"/>
      <dgm:spPr/>
    </dgm:pt>
    <dgm:pt modelId="{82877C13-49AB-2B41-BA2D-598362B76F60}" type="pres">
      <dgm:prSet presAssocID="{D9B9122C-65EC-4F0D-AC8D-49EC938506F3}" presName="vert1" presStyleCnt="0"/>
      <dgm:spPr/>
    </dgm:pt>
    <dgm:pt modelId="{17B75059-5823-F846-A388-9DF457DD2170}" type="pres">
      <dgm:prSet presAssocID="{DF4A03E4-1EE1-4791-BA4C-B82ED70C5481}" presName="thickLine" presStyleLbl="alignNode1" presStyleIdx="5" presStyleCnt="6"/>
      <dgm:spPr/>
    </dgm:pt>
    <dgm:pt modelId="{B4327326-DE32-6E48-B9CB-758C245053EF}" type="pres">
      <dgm:prSet presAssocID="{DF4A03E4-1EE1-4791-BA4C-B82ED70C5481}" presName="horz1" presStyleCnt="0"/>
      <dgm:spPr/>
    </dgm:pt>
    <dgm:pt modelId="{8B6FB259-8082-5146-8B82-DE7D4F3B338F}" type="pres">
      <dgm:prSet presAssocID="{DF4A03E4-1EE1-4791-BA4C-B82ED70C5481}" presName="tx1" presStyleLbl="revTx" presStyleIdx="5" presStyleCnt="6"/>
      <dgm:spPr/>
    </dgm:pt>
    <dgm:pt modelId="{915A3807-0600-6A41-9D00-15E2B7C55F67}" type="pres">
      <dgm:prSet presAssocID="{DF4A03E4-1EE1-4791-BA4C-B82ED70C5481}" presName="vert1" presStyleCnt="0"/>
      <dgm:spPr/>
    </dgm:pt>
  </dgm:ptLst>
  <dgm:cxnLst>
    <dgm:cxn modelId="{81051801-D0FF-4F27-8E5D-89D8D6028930}" srcId="{F379BBE6-F92A-47BB-846B-481DF5ED71FF}" destId="{DF4A03E4-1EE1-4791-BA4C-B82ED70C5481}" srcOrd="5" destOrd="0" parTransId="{FA8A2361-36D3-449C-84E5-DA25213E0BCC}" sibTransId="{C8756039-155E-4C95-9259-F90C8B0B28DA}"/>
    <dgm:cxn modelId="{07D78802-277C-4647-A2E0-8E8F4C0F38C3}" type="presOf" srcId="{DF4A03E4-1EE1-4791-BA4C-B82ED70C5481}" destId="{8B6FB259-8082-5146-8B82-DE7D4F3B338F}" srcOrd="0" destOrd="0" presId="urn:microsoft.com/office/officeart/2008/layout/LinedList"/>
    <dgm:cxn modelId="{A1B4E012-C605-D747-91A0-6591D868BE8A}" type="presOf" srcId="{59CE85AD-3DE5-43C0-8D3F-1B5A0A58DD7C}" destId="{D1E451EE-C5E5-8440-8C0E-B5BA139A30B1}" srcOrd="0" destOrd="0" presId="urn:microsoft.com/office/officeart/2008/layout/LinedList"/>
    <dgm:cxn modelId="{87634429-DBA0-724D-9308-17C8C9289F9B}" type="presOf" srcId="{D9B9122C-65EC-4F0D-AC8D-49EC938506F3}" destId="{D100F06F-34CA-494B-AAA6-4FA457C7F69E}" srcOrd="0" destOrd="0" presId="urn:microsoft.com/office/officeart/2008/layout/LinedList"/>
    <dgm:cxn modelId="{F364CBA3-6AA9-494D-A29A-BD87FE4983F9}" type="presOf" srcId="{D95ABA9B-0453-4FC8-81D6-4B4B72246C23}" destId="{12948D07-3E31-C64D-BB2D-CFFA97BD03E4}" srcOrd="0" destOrd="0" presId="urn:microsoft.com/office/officeart/2008/layout/LinedList"/>
    <dgm:cxn modelId="{31094DA7-D616-4050-96EF-1CE1F789EFF4}" srcId="{F379BBE6-F92A-47BB-846B-481DF5ED71FF}" destId="{47ABE34F-310B-4F33-AA44-BC884AF98361}" srcOrd="0" destOrd="0" parTransId="{4AF7DC43-0955-485C-8B75-57B17C83E26E}" sibTransId="{FC12CFF0-7318-40E8-9BA9-428E68F0F046}"/>
    <dgm:cxn modelId="{026F74BF-38F0-4C93-AEB4-6EF61B225F61}" srcId="{F379BBE6-F92A-47BB-846B-481DF5ED71FF}" destId="{D95ABA9B-0453-4FC8-81D6-4B4B72246C23}" srcOrd="1" destOrd="0" parTransId="{D5128AAF-007B-4108-B88E-8C0281304CC2}" sibTransId="{54475B5C-6006-4E26-A288-CF8E47A03A8A}"/>
    <dgm:cxn modelId="{0AB5A0C2-EE50-964D-AB9C-5408B7C068BA}" type="presOf" srcId="{502A672E-3ED9-4EE9-A857-9BDDF5AA0112}" destId="{32808088-AE3F-B447-90FC-7F53FB02249A}" srcOrd="0" destOrd="0" presId="urn:microsoft.com/office/officeart/2008/layout/LinedList"/>
    <dgm:cxn modelId="{B20031C8-74D7-AB45-8D55-FFDB83660444}" type="presOf" srcId="{F379BBE6-F92A-47BB-846B-481DF5ED71FF}" destId="{B15FC683-AA0E-6845-AD5D-C4D40B739670}" srcOrd="0" destOrd="0" presId="urn:microsoft.com/office/officeart/2008/layout/LinedList"/>
    <dgm:cxn modelId="{A218C0CB-0982-4CA3-924F-A3D063AD6635}" srcId="{F379BBE6-F92A-47BB-846B-481DF5ED71FF}" destId="{59CE85AD-3DE5-43C0-8D3F-1B5A0A58DD7C}" srcOrd="3" destOrd="0" parTransId="{4DC5FA2A-5CD7-498C-9165-32F33F6A01B0}" sibTransId="{A75BCDB0-593D-4233-81D5-CEDF52BA0098}"/>
    <dgm:cxn modelId="{1C4B8CF0-06EA-4275-B767-A85CECB72D49}" srcId="{F379BBE6-F92A-47BB-846B-481DF5ED71FF}" destId="{502A672E-3ED9-4EE9-A857-9BDDF5AA0112}" srcOrd="2" destOrd="0" parTransId="{B71F6C88-57E8-440F-BCC2-AD605D8DC867}" sibTransId="{FDCA1A88-F9F4-4F9D-9F86-8E77940FAF3E}"/>
    <dgm:cxn modelId="{1A2459FD-E9ED-4A07-ACE5-17869C95E5A5}" srcId="{F379BBE6-F92A-47BB-846B-481DF5ED71FF}" destId="{D9B9122C-65EC-4F0D-AC8D-49EC938506F3}" srcOrd="4" destOrd="0" parTransId="{4D65561C-E2AD-439D-A93D-EED4AC3775AE}" sibTransId="{47E2B5BE-F332-4976-91F8-9AE6A6F59F9A}"/>
    <dgm:cxn modelId="{C7BDC6FD-C652-2F4B-8567-9154242BEDF4}" type="presOf" srcId="{47ABE34F-310B-4F33-AA44-BC884AF98361}" destId="{CD7C7B53-BC5F-A848-AAC8-2F21D3C6DC22}" srcOrd="0" destOrd="0" presId="urn:microsoft.com/office/officeart/2008/layout/LinedList"/>
    <dgm:cxn modelId="{D9EC3CCE-435E-F841-8FD1-425CBF87C14C}" type="presParOf" srcId="{B15FC683-AA0E-6845-AD5D-C4D40B739670}" destId="{3910FFD6-A17C-3E4C-9270-C125967A86CF}" srcOrd="0" destOrd="0" presId="urn:microsoft.com/office/officeart/2008/layout/LinedList"/>
    <dgm:cxn modelId="{D5FC1688-3034-4848-AE89-70002FAF02BA}" type="presParOf" srcId="{B15FC683-AA0E-6845-AD5D-C4D40B739670}" destId="{16257F41-BE75-E94C-8110-A25D475C18DF}" srcOrd="1" destOrd="0" presId="urn:microsoft.com/office/officeart/2008/layout/LinedList"/>
    <dgm:cxn modelId="{9EA9C53A-C846-9C48-9ADD-96967EB2D55F}" type="presParOf" srcId="{16257F41-BE75-E94C-8110-A25D475C18DF}" destId="{CD7C7B53-BC5F-A848-AAC8-2F21D3C6DC22}" srcOrd="0" destOrd="0" presId="urn:microsoft.com/office/officeart/2008/layout/LinedList"/>
    <dgm:cxn modelId="{F0C7E972-36B5-DE48-8D3E-7EC4E772D8DA}" type="presParOf" srcId="{16257F41-BE75-E94C-8110-A25D475C18DF}" destId="{CD03949E-078D-9349-B332-C6D3A18A2603}" srcOrd="1" destOrd="0" presId="urn:microsoft.com/office/officeart/2008/layout/LinedList"/>
    <dgm:cxn modelId="{7A05EAD8-8FB6-B541-9D55-29C88591EDED}" type="presParOf" srcId="{B15FC683-AA0E-6845-AD5D-C4D40B739670}" destId="{A5C500FD-54A0-4345-ACDA-831D16A920D0}" srcOrd="2" destOrd="0" presId="urn:microsoft.com/office/officeart/2008/layout/LinedList"/>
    <dgm:cxn modelId="{8B6C3D8F-06A5-BA46-90F2-050AB890E4E9}" type="presParOf" srcId="{B15FC683-AA0E-6845-AD5D-C4D40B739670}" destId="{A8EB5BF2-03F4-F24C-9559-9ECE7B69BB39}" srcOrd="3" destOrd="0" presId="urn:microsoft.com/office/officeart/2008/layout/LinedList"/>
    <dgm:cxn modelId="{6D7E2F3F-5A56-8E4D-B5DC-4C287C6743CE}" type="presParOf" srcId="{A8EB5BF2-03F4-F24C-9559-9ECE7B69BB39}" destId="{12948D07-3E31-C64D-BB2D-CFFA97BD03E4}" srcOrd="0" destOrd="0" presId="urn:microsoft.com/office/officeart/2008/layout/LinedList"/>
    <dgm:cxn modelId="{1DE4F7A3-97B3-224B-85B5-A1F6366B1595}" type="presParOf" srcId="{A8EB5BF2-03F4-F24C-9559-9ECE7B69BB39}" destId="{72927B3D-5103-0F49-B172-FECD319F6424}" srcOrd="1" destOrd="0" presId="urn:microsoft.com/office/officeart/2008/layout/LinedList"/>
    <dgm:cxn modelId="{9E3C2309-2A35-D045-9A7B-7626607D2887}" type="presParOf" srcId="{B15FC683-AA0E-6845-AD5D-C4D40B739670}" destId="{FB6DC626-9C43-AC45-ADA8-07E68C1EEB20}" srcOrd="4" destOrd="0" presId="urn:microsoft.com/office/officeart/2008/layout/LinedList"/>
    <dgm:cxn modelId="{B98AECD0-3F75-754C-A667-255AE59A707E}" type="presParOf" srcId="{B15FC683-AA0E-6845-AD5D-C4D40B739670}" destId="{6BD9ECD3-3880-8E44-BABF-10B3614B0866}" srcOrd="5" destOrd="0" presId="urn:microsoft.com/office/officeart/2008/layout/LinedList"/>
    <dgm:cxn modelId="{4777C618-031F-DA4E-9183-20413FF6EC8C}" type="presParOf" srcId="{6BD9ECD3-3880-8E44-BABF-10B3614B0866}" destId="{32808088-AE3F-B447-90FC-7F53FB02249A}" srcOrd="0" destOrd="0" presId="urn:microsoft.com/office/officeart/2008/layout/LinedList"/>
    <dgm:cxn modelId="{676F6B0E-738F-304F-9AAB-375679B2A93B}" type="presParOf" srcId="{6BD9ECD3-3880-8E44-BABF-10B3614B0866}" destId="{3C9B55AD-8A39-B543-9AC2-B8CC14E71FDB}" srcOrd="1" destOrd="0" presId="urn:microsoft.com/office/officeart/2008/layout/LinedList"/>
    <dgm:cxn modelId="{F36BB75E-0FF0-1F42-9A56-7892BA765FA9}" type="presParOf" srcId="{B15FC683-AA0E-6845-AD5D-C4D40B739670}" destId="{3ACD89C4-C395-C34F-A490-2F0826811255}" srcOrd="6" destOrd="0" presId="urn:microsoft.com/office/officeart/2008/layout/LinedList"/>
    <dgm:cxn modelId="{B55C7CE1-CE0B-9D45-B2F9-6ED1A0F1E75D}" type="presParOf" srcId="{B15FC683-AA0E-6845-AD5D-C4D40B739670}" destId="{39AF5E54-8D62-9B41-950B-FDF73C691440}" srcOrd="7" destOrd="0" presId="urn:microsoft.com/office/officeart/2008/layout/LinedList"/>
    <dgm:cxn modelId="{74CA6184-A0C3-2347-B712-E89E2963E261}" type="presParOf" srcId="{39AF5E54-8D62-9B41-950B-FDF73C691440}" destId="{D1E451EE-C5E5-8440-8C0E-B5BA139A30B1}" srcOrd="0" destOrd="0" presId="urn:microsoft.com/office/officeart/2008/layout/LinedList"/>
    <dgm:cxn modelId="{8186CAFB-C236-EA47-88F1-CC73F7DBA9DA}" type="presParOf" srcId="{39AF5E54-8D62-9B41-950B-FDF73C691440}" destId="{8AB1F80F-F4B4-224D-A65C-9C8A0AADF5D6}" srcOrd="1" destOrd="0" presId="urn:microsoft.com/office/officeart/2008/layout/LinedList"/>
    <dgm:cxn modelId="{F9F89711-BE22-FB46-A3FC-55222232204E}" type="presParOf" srcId="{B15FC683-AA0E-6845-AD5D-C4D40B739670}" destId="{D6BFEEBF-4509-514A-9D6C-4F1FBD29DA44}" srcOrd="8" destOrd="0" presId="urn:microsoft.com/office/officeart/2008/layout/LinedList"/>
    <dgm:cxn modelId="{D578EC9D-2C20-2E4A-AE21-013ADE08422E}" type="presParOf" srcId="{B15FC683-AA0E-6845-AD5D-C4D40B739670}" destId="{7D901CEC-0908-4B4B-B493-C831E67780BF}" srcOrd="9" destOrd="0" presId="urn:microsoft.com/office/officeart/2008/layout/LinedList"/>
    <dgm:cxn modelId="{80003CDA-9395-5F45-94A3-92C226C4E452}" type="presParOf" srcId="{7D901CEC-0908-4B4B-B493-C831E67780BF}" destId="{D100F06F-34CA-494B-AAA6-4FA457C7F69E}" srcOrd="0" destOrd="0" presId="urn:microsoft.com/office/officeart/2008/layout/LinedList"/>
    <dgm:cxn modelId="{425A963B-8774-AC4D-B65F-9891BB9D328B}" type="presParOf" srcId="{7D901CEC-0908-4B4B-B493-C831E67780BF}" destId="{82877C13-49AB-2B41-BA2D-598362B76F60}" srcOrd="1" destOrd="0" presId="urn:microsoft.com/office/officeart/2008/layout/LinedList"/>
    <dgm:cxn modelId="{617C5E22-A630-EF4B-B8B3-1363C20708C1}" type="presParOf" srcId="{B15FC683-AA0E-6845-AD5D-C4D40B739670}" destId="{17B75059-5823-F846-A388-9DF457DD2170}" srcOrd="10" destOrd="0" presId="urn:microsoft.com/office/officeart/2008/layout/LinedList"/>
    <dgm:cxn modelId="{F9C48C66-BD80-8E43-AC28-620DB08ECFCB}" type="presParOf" srcId="{B15FC683-AA0E-6845-AD5D-C4D40B739670}" destId="{B4327326-DE32-6E48-B9CB-758C245053EF}" srcOrd="11" destOrd="0" presId="urn:microsoft.com/office/officeart/2008/layout/LinedList"/>
    <dgm:cxn modelId="{F2BBA019-593C-E746-BBA1-E9FC7AB0968A}" type="presParOf" srcId="{B4327326-DE32-6E48-B9CB-758C245053EF}" destId="{8B6FB259-8082-5146-8B82-DE7D4F3B338F}" srcOrd="0" destOrd="0" presId="urn:microsoft.com/office/officeart/2008/layout/LinedList"/>
    <dgm:cxn modelId="{FB1E8E37-6936-7C45-B2B0-CFCC3F75F0E0}" type="presParOf" srcId="{B4327326-DE32-6E48-B9CB-758C245053EF}" destId="{915A3807-0600-6A41-9D00-15E2B7C55F6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0FFD6-A17C-3E4C-9270-C125967A86CF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C7B53-BC5F-A848-AAC8-2F21D3C6DC22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·  </a:t>
          </a:r>
          <a:r>
            <a:rPr lang="en-US" sz="1500" b="1" kern="1200"/>
            <a:t>Abdimanapova, G., Zhaidakbayeva, L., &amp; Aldeshov, S.</a:t>
          </a:r>
          <a:r>
            <a:rPr lang="en-US" sz="1500" kern="1200"/>
            <a:t> (2023). </a:t>
          </a:r>
          <a:r>
            <a:rPr lang="en-US" sz="1500" i="1" kern="1200"/>
            <a:t>Graphics capabilities in Python</a:t>
          </a:r>
          <a:r>
            <a:rPr lang="en-US" sz="1500" kern="1200"/>
            <a:t>. </a:t>
          </a:r>
          <a:r>
            <a:rPr lang="en-US" sz="1500" i="1" kern="1200"/>
            <a:t>Avrasya Sosyal ve Ekonomi Araştırmaları Dergisi, 10</a:t>
          </a:r>
          <a:r>
            <a:rPr lang="en-US" sz="1500" kern="1200"/>
            <a:t>(Prof. Dr. Raskul Ibragimov Özel Sayısı), 1–14. </a:t>
          </a:r>
          <a:r>
            <a:rPr lang="en-US" sz="1500" kern="1200">
              <a:hlinkClick xmlns:r="http://schemas.openxmlformats.org/officeDocument/2006/relationships" r:id="rId1"/>
            </a:rPr>
            <a:t>https://plotly.com/python/</a:t>
          </a:r>
          <a:r>
            <a:rPr lang="en-US" sz="1500" kern="1200"/>
            <a:t> </a:t>
          </a:r>
        </a:p>
      </dsp:txBody>
      <dsp:txXfrm>
        <a:off x="0" y="2124"/>
        <a:ext cx="10515600" cy="724514"/>
      </dsp:txXfrm>
    </dsp:sp>
    <dsp:sp modelId="{A5C500FD-54A0-4345-ACDA-831D16A920D0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48D07-3E31-C64D-BB2D-CFFA97BD03E4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·  </a:t>
          </a:r>
          <a:r>
            <a:rPr lang="en-US" sz="1500" b="1" kern="1200"/>
            <a:t>Fields, D.</a:t>
          </a:r>
          <a:r>
            <a:rPr lang="en-US" sz="1500" kern="1200"/>
            <a:t> (2022). Automated landlord: Digital technologies and post-crisis financial accumulation. </a:t>
          </a:r>
          <a:r>
            <a:rPr lang="en-US" sz="1500" i="1" kern="1200"/>
            <a:t>Environment and Planning A: Economy and Space, 54</a:t>
          </a:r>
          <a:r>
            <a:rPr lang="en-US" sz="1500" kern="1200"/>
            <a:t>(1), 160–181. </a:t>
          </a:r>
          <a:r>
            <a:rPr lang="en-US" sz="1500" kern="1200">
              <a:hlinkClick xmlns:r="http://schemas.openxmlformats.org/officeDocument/2006/relationships" r:id="rId2"/>
            </a:rPr>
            <a:t>https://doi.org/10.1177/0308518X19846514</a:t>
          </a:r>
          <a:r>
            <a:rPr lang="en-US" sz="1500" kern="1200"/>
            <a:t> </a:t>
          </a:r>
        </a:p>
      </dsp:txBody>
      <dsp:txXfrm>
        <a:off x="0" y="726639"/>
        <a:ext cx="10515600" cy="724514"/>
      </dsp:txXfrm>
    </dsp:sp>
    <dsp:sp modelId="{FB6DC626-9C43-AC45-ADA8-07E68C1EEB20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08088-AE3F-B447-90FC-7F53FB02249A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·  </a:t>
          </a:r>
          <a:r>
            <a:rPr lang="en-US" sz="1500" b="1" kern="1200"/>
            <a:t>Krishnan, V. S., &amp; Moyer, R. C.</a:t>
          </a:r>
          <a:r>
            <a:rPr lang="en-US" sz="1500" kern="1200"/>
            <a:t> (1994). Bankruptcy costs and the financial leasing decision. </a:t>
          </a:r>
          <a:r>
            <a:rPr lang="en-US" sz="1500" i="1" kern="1200"/>
            <a:t>Financial Management, 23</a:t>
          </a:r>
          <a:r>
            <a:rPr lang="en-US" sz="1500" kern="1200"/>
            <a:t>(2), 31–42. </a:t>
          </a:r>
        </a:p>
      </dsp:txBody>
      <dsp:txXfrm>
        <a:off x="0" y="1451154"/>
        <a:ext cx="10515600" cy="724514"/>
      </dsp:txXfrm>
    </dsp:sp>
    <dsp:sp modelId="{3ACD89C4-C395-C34F-A490-2F082681125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451EE-C5E5-8440-8C0E-B5BA139A30B1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·  </a:t>
          </a:r>
          <a:r>
            <a:rPr lang="en-US" sz="1500" b="1" kern="1200"/>
            <a:t>Morales-Díaz, J., &amp; Zamora-Ramírez, C.</a:t>
          </a:r>
          <a:r>
            <a:rPr lang="en-US" sz="1500" kern="1200"/>
            <a:t> (2018). The impact of IFRS 16 on key financial ratios: A new methodological approach. </a:t>
          </a:r>
          <a:r>
            <a:rPr lang="en-US" sz="1500" i="1" kern="1200"/>
            <a:t>Accounting in Europe, 15</a:t>
          </a:r>
          <a:r>
            <a:rPr lang="en-US" sz="1500" kern="1200"/>
            <a:t>(1), 105–133. </a:t>
          </a:r>
          <a:r>
            <a:rPr lang="en-US" sz="1500" kern="1200">
              <a:hlinkClick xmlns:r="http://schemas.openxmlformats.org/officeDocument/2006/relationships" r:id="rId3"/>
            </a:rPr>
            <a:t>https://doi.org/10.1080/17449480.2018.1433307</a:t>
          </a:r>
          <a:r>
            <a:rPr lang="en-US" sz="1500" kern="1200"/>
            <a:t> </a:t>
          </a:r>
        </a:p>
      </dsp:txBody>
      <dsp:txXfrm>
        <a:off x="0" y="2175669"/>
        <a:ext cx="10515600" cy="724514"/>
      </dsp:txXfrm>
    </dsp:sp>
    <dsp:sp modelId="{D6BFEEBF-4509-514A-9D6C-4F1FBD29DA44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0F06F-34CA-494B-AAA6-4FA457C7F69E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·  </a:t>
          </a:r>
          <a:r>
            <a:rPr lang="en-US" sz="1500" b="1" kern="1200"/>
            <a:t>Sharma, M., Ammons, J. C., &amp; Hartman, J. C.</a:t>
          </a:r>
          <a:r>
            <a:rPr lang="en-US" sz="1500" kern="1200"/>
            <a:t> (2007). Asset management with reverse product flows and environmental considerations. </a:t>
          </a:r>
          <a:r>
            <a:rPr lang="en-US" sz="1500" i="1" kern="1200"/>
            <a:t>Computers &amp; Operations Research, 34</a:t>
          </a:r>
          <a:r>
            <a:rPr lang="en-US" sz="1500" kern="1200"/>
            <a:t>(2), 464–486. </a:t>
          </a:r>
          <a:r>
            <a:rPr lang="en-US" sz="1500" kern="1200">
              <a:hlinkClick xmlns:r="http://schemas.openxmlformats.org/officeDocument/2006/relationships" r:id="rId4"/>
            </a:rPr>
            <a:t>https://doi.org/10.1016/j.cor.2005.03.009</a:t>
          </a:r>
          <a:r>
            <a:rPr lang="en-US" sz="1500" kern="1200"/>
            <a:t> </a:t>
          </a:r>
        </a:p>
      </dsp:txBody>
      <dsp:txXfrm>
        <a:off x="0" y="2900183"/>
        <a:ext cx="10515600" cy="724514"/>
      </dsp:txXfrm>
    </dsp:sp>
    <dsp:sp modelId="{17B75059-5823-F846-A388-9DF457DD2170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FB259-8082-5146-8B82-DE7D4F3B338F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·  </a:t>
          </a:r>
          <a:r>
            <a:rPr lang="en-US" sz="1500" b="1" kern="1200"/>
            <a:t>Singh, C., Shelor, R., Jiang, J., &amp; Klein, G.</a:t>
          </a:r>
          <a:r>
            <a:rPr lang="en-US" sz="1500" kern="1200"/>
            <a:t> (2004). Rental software valuation in IT investment decisions. </a:t>
          </a:r>
          <a:r>
            <a:rPr lang="en-US" sz="1500" i="1" kern="1200"/>
            <a:t>Decision Support Systems, 38</a:t>
          </a:r>
          <a:r>
            <a:rPr lang="en-US" sz="1500" kern="1200"/>
            <a:t>(1), 115–130. </a:t>
          </a:r>
          <a:r>
            <a:rPr lang="en-US" sz="1500" kern="1200">
              <a:hlinkClick xmlns:r="http://schemas.openxmlformats.org/officeDocument/2006/relationships" r:id="rId5"/>
            </a:rPr>
            <a:t>https://doi.org/10.1016/S0167-9236(03)00081-2</a:t>
          </a:r>
          <a:endParaRPr lang="en-US" sz="1500" kern="1200"/>
        </a:p>
      </dsp:txBody>
      <dsp:txXfrm>
        <a:off x="0" y="3624698"/>
        <a:ext cx="10515600" cy="724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C93E8-9451-F44C-B7B0-13CEEED41BB3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779C9-52B1-7942-9B26-23406D91F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2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45E6-6996-80F2-80C9-4A862D329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F98CD-FA78-C7E0-1E53-AA568EDC4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2F04E-86BD-9149-2009-EDFFDFAF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B555-DE2D-CE43-BE02-6D3D596B8FE9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ADC35-2862-F545-8739-42A2619D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A060C-6C97-02F7-905F-91938FD7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5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C9B2-6ECA-9A80-5C94-1DAA3DD9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6A4DA-8CE0-40A5-D226-0CC23F182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1FEAE-6AE1-0860-FC80-9D59F6BC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FD9A-D20E-DC4E-8A5D-574B3D257C6B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59B3F-BA76-6CE3-B3E6-780404CA3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2A826-8997-6EEE-A0ED-DA1CF124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1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3224-3799-9EA4-61B6-898DAB9C1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A7270-93CE-9C2C-1B7E-A21CA50CE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D367-6A7D-9C18-1E1C-0E7D9F08A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D0522-BE2F-194B-9892-D57F8FAFA4AA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FDA1B-45BD-A291-1F0F-8C3AB730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71B5-5733-0BE3-E779-A15AE478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2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1359-D488-C815-4C37-41F37B11B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09BB2-ED02-B4A3-A526-4036E4F1D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00EF3-E7BF-4076-BABD-63E79B040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1806D-7477-1D70-2C5E-4E4C9CFFD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35A71-0595-9B48-8DD0-C680C185C1E1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58402-A88B-749A-225C-3A40B27C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2DB07-F13C-20BD-3598-BB3CFF7A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7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6829-678B-B407-4BF5-6FCCA02EC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11E57-6EC0-F55D-C9AC-2CD26E470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A94B0-B556-9866-E803-A3FF258AF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7FE9B-80C8-B10E-53F8-69AA48CB4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0B403F-DA63-2DCF-CB1B-956C08E8C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024BE-2721-0F7B-092A-2FE12F94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2AE4-DF71-8445-8496-EE689F0CBE06}" type="datetime1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D05AB-FC33-5123-F0B9-4FC847E2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0244B6-F0B7-C79D-E905-C2B16481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2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0277-82EB-8DC8-0031-88435EB2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5FF3DA-30F0-A71B-2046-509371F1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786F-DBE8-C642-9460-EE924779665E}" type="datetime1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DDD11-0793-9987-48E5-381E63AC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345AC-6A84-7F87-E6C0-2857EFD4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9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8C4481-99C2-1D59-8D4F-6BC68C593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EBC2-05B1-2E41-BD97-A4FF12C6B08D}" type="datetime1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98559-8B49-026F-6880-7408509A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F8999-07CD-F72B-2F8C-68F67BB85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0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B303-A523-4DC6-B9AA-DAA9A30E2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7EA1A-46D3-B730-8EB4-99914541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91B0A-2982-7C91-F29B-D684FFD5F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761C5-BAC4-79EB-CA66-3B79E1DB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3A47-2F4E-874D-B0CE-6AA72F8C2BA9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511A5-7AED-76C6-2D6A-EC4E34FEC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7AE85-8D6F-2345-5046-850728D4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2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6CDD-76C0-64A8-5BF3-1789DEDB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68C84-118B-C07B-6EC1-2BC368B88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09440-8B1E-A276-E9F7-FB4660655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71248-C121-3001-B8D1-56F82D415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389C-7820-5648-9911-B1ABCF0C9961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53314-F904-2D67-889C-11273BB4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BA67C-C835-83C1-00C5-C67A1C16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1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6802-615C-E964-47ED-0493B979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75E2A-6FD2-04D4-4341-1DE7BEF2D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B38B7-573C-9EC2-426F-8D116A7E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5DB1-DAE7-944B-A18B-5138E65A1926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704ED-C4EE-47DB-7F58-A274C1681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B100F-9390-3BA2-2029-3AF6F132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5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7E29D-19B5-4456-9EA7-20E833F9D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6D2E5-5986-118D-E8DC-B374619CF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E145E-45E0-8108-87EC-96BAE2C67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0CD97-543A-D94A-A330-6A4BFEA6B184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9A753-AA0C-FB9D-BD8E-8B0A8D63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BF06F-AC24-B18B-0ECF-FF3DE604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5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F9960-3AC7-F1F9-E68C-0D4DB0FCD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146B0-68B1-F885-3B34-FF3843E8A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38B50-6A77-F373-3854-D369E6BFF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EDB83-8A67-864B-BC32-D2EFC77FAAE6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E121F-E33F-7F28-FC09-A3323A205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92A33-9926-E651-BA7C-D84FCB6BA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4E69C-918F-0D4D-9E50-74408777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3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orldclass.regis.edu/d2l/home/37603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7DF8-B5BE-E1A5-A809-FAF440D70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244" y="369672"/>
            <a:ext cx="10728101" cy="2387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  <a:ea typeface="Calibri" pitchFamily="34" charset="-122"/>
                <a:cs typeface="Calibri" pitchFamily="34" charset="-120"/>
              </a:rPr>
              <a:t>Asset Rental Agreement</a:t>
            </a:r>
            <a:b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  <a:ea typeface="Calibri" pitchFamily="34" charset="-122"/>
                <a:cs typeface="Calibri" pitchFamily="34" charset="-120"/>
              </a:rPr>
              <a:t>&amp; Financial Analytics</a:t>
            </a:r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5581F-10FB-02D3-7BD7-75512E589AFE}"/>
              </a:ext>
            </a:extLst>
          </p:cNvPr>
          <p:cNvSpPr txBox="1"/>
          <p:nvPr/>
        </p:nvSpPr>
        <p:spPr>
          <a:xfrm>
            <a:off x="1262130" y="3176565"/>
            <a:ext cx="100841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Trebuchet MS" panose="020B0703020202090204" pitchFamily="34" charset="0"/>
                <a:ea typeface="Calibri" pitchFamily="34" charset="-122"/>
                <a:cs typeface="Calibri" panose="020F0502020204030204" pitchFamily="34" charset="0"/>
              </a:rPr>
              <a:t>Data Science Practicum 1 , </a:t>
            </a:r>
            <a:r>
              <a:rPr lang="en-US" b="1" dirty="0">
                <a:latin typeface="Trebuchet MS" panose="020B0703020202090204" pitchFamily="34" charset="0"/>
                <a:cs typeface="Calibri" panose="020F0502020204030204" pitchFamily="34" charset="0"/>
                <a:hlinkClick r:id="rId2" tooltip="MSDS692_S40_Data Science Practic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MSDS692_S40_Data Science Practicum</a:t>
            </a:r>
            <a:endParaRPr lang="en-US" b="1" i="1" dirty="0">
              <a:latin typeface="Trebuchet MS" panose="020B0703020202090204" pitchFamily="34" charset="0"/>
              <a:ea typeface="Calibri" pitchFamily="34" charset="-122"/>
              <a:cs typeface="Calibri" panose="020F0502020204030204" pitchFamily="34" charset="0"/>
            </a:endParaRPr>
          </a:p>
          <a:p>
            <a:endParaRPr lang="en-US" b="1" i="1" dirty="0">
              <a:latin typeface="Trebuchet MS" panose="020B070302020209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Trebuchet MS" panose="020B0703020202090204" pitchFamily="34" charset="0"/>
                <a:ea typeface="Calibri" pitchFamily="34" charset="-122"/>
                <a:cs typeface="Calibri" panose="020F0502020204030204" pitchFamily="34" charset="0"/>
              </a:rPr>
              <a:t>Prakash Ghatani  |  Regis University, Denver CO  |  </a:t>
            </a:r>
            <a:r>
              <a:rPr lang="en-US" b="1" dirty="0" err="1">
                <a:latin typeface="Trebuchet MS" panose="020B0703020202090204" pitchFamily="34" charset="0"/>
                <a:ea typeface="Calibri" pitchFamily="34" charset="-122"/>
                <a:cs typeface="Calibri" panose="020F0502020204030204" pitchFamily="34" charset="0"/>
              </a:rPr>
              <a:t>pghatani@regis.edu</a:t>
            </a:r>
            <a:endParaRPr lang="en-US" b="1" dirty="0">
              <a:latin typeface="Trebuchet MS" panose="020B070302020209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559692-5AE9-C230-7F8B-F213036CEC28}"/>
              </a:ext>
            </a:extLst>
          </p:cNvPr>
          <p:cNvSpPr txBox="1"/>
          <p:nvPr/>
        </p:nvSpPr>
        <p:spPr>
          <a:xfrm>
            <a:off x="1378039" y="4519188"/>
            <a:ext cx="9968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F2328"/>
                </a:solidFill>
                <a:latin typeface="Trebuchet MS" panose="020B0703020202090204" pitchFamily="34" charset="0"/>
                <a:cs typeface="Calibri" panose="020F0502020204030204" pitchFamily="34" charset="0"/>
              </a:rPr>
              <a:t>This asset's rental agreement analysis helps understand rental costs, contracts, vendor information, and missing data. The project also uses data analysis and machine learning to predict future monthly rental costs.</a:t>
            </a:r>
            <a:endParaRPr lang="en-US" sz="1800" dirty="0">
              <a:latin typeface="Trebuchet MS" panose="020B070302020209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005677-C2C6-936A-3115-F68AF51A8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229" y="176837"/>
            <a:ext cx="2438400" cy="7239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07D3B16-66A0-BEB9-8409-773EC322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01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4B0E03-94FB-EC2B-D5F7-0AD5B2700F71}"/>
              </a:ext>
            </a:extLst>
          </p:cNvPr>
          <p:cNvSpPr txBox="1"/>
          <p:nvPr/>
        </p:nvSpPr>
        <p:spPr>
          <a:xfrm>
            <a:off x="759854" y="1505109"/>
            <a:ext cx="101953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The company has many leased assets in different locations.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These assets are managed under different contracts, vendors, and manufacturers.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It is difficult to find expensive assets without data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It is also hard to find unusual rental costs and contract risks.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 Data analysis can help find ways to reduce costs and improve lease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rebuchet MS" panose="020B070302020209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rebuchet MS" panose="020B0703020202090204" pitchFamily="34" charset="0"/>
              </a:rPr>
              <a:t>Main prediction target: </a:t>
            </a:r>
            <a:r>
              <a:rPr lang="en-US" sz="1600" b="1" dirty="0">
                <a:latin typeface="Trebuchet MS" panose="020B0703020202090204" pitchFamily="34" charset="0"/>
              </a:rPr>
              <a:t>Asset Rental Expenses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07F47-835A-B287-1686-BA4D890DB376}"/>
              </a:ext>
            </a:extLst>
          </p:cNvPr>
          <p:cNvSpPr txBox="1"/>
          <p:nvPr/>
        </p:nvSpPr>
        <p:spPr>
          <a:xfrm>
            <a:off x="759854" y="4010156"/>
            <a:ext cx="88941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" panose="020B070302020209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Which vendors and manufacturers have the highest rental costs?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Which asset types generate the highest monthly rental amounts?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Are there any unusual rental amounts compared to asset costs?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Which factors best predict asset rental amounts?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  <a:cs typeface="Calibri" panose="020F0502020204030204" pitchFamily="34" charset="0"/>
              </a:rPr>
              <a:t> How can lease costs be reduced and lease management improved?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5862A-60B5-1166-D572-17F702EE648B}"/>
              </a:ext>
            </a:extLst>
          </p:cNvPr>
          <p:cNvSpPr txBox="1"/>
          <p:nvPr/>
        </p:nvSpPr>
        <p:spPr>
          <a:xfrm>
            <a:off x="669701" y="600501"/>
            <a:ext cx="111273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4000" b="1" i="0" u="sng">
                <a:effectLst/>
                <a:latin typeface="Trebuchet MS" panose="020B0703020202090204" pitchFamily="34" charset="0"/>
              </a:rPr>
              <a:t>Business Problem &amp; Research Questions</a:t>
            </a:r>
            <a:endParaRPr lang="en-US" sz="4000" b="1" i="0" u="sng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0C893E-F0E7-94C2-2502-537C221B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71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C8085-2066-A3B4-AA24-8D4D15FB382A}"/>
              </a:ext>
            </a:extLst>
          </p:cNvPr>
          <p:cNvSpPr txBox="1"/>
          <p:nvPr/>
        </p:nvSpPr>
        <p:spPr>
          <a:xfrm>
            <a:off x="1107583" y="459723"/>
            <a:ext cx="91697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000" b="1" i="0" u="sng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Accessing the Data and Data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F1E30-542A-57D2-2E9F-18533988888A}"/>
              </a:ext>
            </a:extLst>
          </p:cNvPr>
          <p:cNvSpPr txBox="1"/>
          <p:nvPr/>
        </p:nvSpPr>
        <p:spPr>
          <a:xfrm>
            <a:off x="653603" y="1490142"/>
            <a:ext cx="591462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Load the Excel file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Review rows, columns, data types, and missing values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 Define the business goal and prediction target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9EF0B-73B7-68F3-5B6E-A83AB7CC8562}"/>
              </a:ext>
            </a:extLst>
          </p:cNvPr>
          <p:cNvSpPr txBox="1"/>
          <p:nvPr/>
        </p:nvSpPr>
        <p:spPr>
          <a:xfrm>
            <a:off x="6568226" y="1367031"/>
            <a:ext cx="60788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Asset distribution by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Vendor and manufacturer cost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Rental amount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Asset cost vs rental amount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328"/>
                </a:solidFill>
                <a:effectLst/>
                <a:latin typeface="Trebuchet MS" panose="020B0703020202090204" pitchFamily="34" charset="0"/>
              </a:rPr>
              <a:t>Missing data visualization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69E57A-6CAA-E989-5575-D57407C49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92438"/>
            <a:ext cx="6047886" cy="2513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B69B5A-735B-FAE7-CC62-114BB44DF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735" y="3429000"/>
            <a:ext cx="6422265" cy="2513479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CA54AA-64C3-E438-0FBC-A9BF53A6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43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0BCB0-D903-6B98-18C8-8A10C35F6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21D1D-68D4-8CB8-3B99-560F32D4A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4178"/>
            <a:ext cx="5191932" cy="2953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BFC29D-0E0C-69D0-951F-7DA128F46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663" y="3254178"/>
            <a:ext cx="6099874" cy="2953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41B9AB-F259-B1D6-FE00-2128FC5D79C3}"/>
              </a:ext>
            </a:extLst>
          </p:cNvPr>
          <p:cNvSpPr txBox="1"/>
          <p:nvPr/>
        </p:nvSpPr>
        <p:spPr>
          <a:xfrm>
            <a:off x="368084" y="465796"/>
            <a:ext cx="77375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rebuchet MS" panose="020B0703020202090204" pitchFamily="34" charset="0"/>
              </a:rPr>
              <a:t>Exploratory Data Analysis (EDA)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1EC33-AE17-82FD-BB13-BF912C4BA662}"/>
              </a:ext>
            </a:extLst>
          </p:cNvPr>
          <p:cNvSpPr txBox="1"/>
          <p:nvPr/>
        </p:nvSpPr>
        <p:spPr>
          <a:xfrm>
            <a:off x="188564" y="1398331"/>
            <a:ext cx="60998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Distribution of Asset Rental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Most of time they pay between 90 dollars and 100 dollars per month for 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Some assets have much higher or lower rental costs.</a:t>
            </a:r>
          </a:p>
          <a:p>
            <a:endParaRPr lang="en-US" dirty="0">
              <a:latin typeface="Trebuchet MS" panose="020B070302020209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F7BAB6-AB51-71D2-32A9-02B77DE46535}"/>
              </a:ext>
            </a:extLst>
          </p:cNvPr>
          <p:cNvSpPr txBox="1"/>
          <p:nvPr/>
        </p:nvSpPr>
        <p:spPr>
          <a:xfrm>
            <a:off x="6099874" y="1386316"/>
            <a:ext cx="5903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Asset Cost vs. Monthly Rental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Things that cost a lot usually have rent to pay every month.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Some things do not work this way. The assets may need to be looked at again.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94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E480E-E9EC-801A-648D-A8E0E66344A4}"/>
              </a:ext>
            </a:extLst>
          </p:cNvPr>
          <p:cNvSpPr txBox="1"/>
          <p:nvPr/>
        </p:nvSpPr>
        <p:spPr>
          <a:xfrm>
            <a:off x="630936" y="502920"/>
            <a:ext cx="341985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Prepare Data </a:t>
            </a:r>
            <a:endParaRPr lang="en-US" sz="4800" u="sng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69153-ACF5-7C84-3028-9483AE0617EA}"/>
              </a:ext>
            </a:extLst>
          </p:cNvPr>
          <p:cNvSpPr txBox="1"/>
          <p:nvPr/>
        </p:nvSpPr>
        <p:spPr>
          <a:xfrm>
            <a:off x="4654294" y="278969"/>
            <a:ext cx="7537705" cy="19059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 Clean column names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 Handle missing values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 Create useful features such as rental-to-cost ratio, lease age, and days until primary term end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 Encode categorical variables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7F360-14D6-21B0-C2B3-78EF3BAF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192466"/>
            <a:ext cx="10917936" cy="215629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DDBBE9-BB4F-F247-D2A8-9CE5D095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D4E69C-918F-0D4D-9E50-744087777A01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95EC5-6D07-7767-1DA1-880FBDC2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Regression Modeling</a:t>
            </a:r>
            <a:br>
              <a:rPr lang="en-US" sz="30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u="sng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C5CBA-1FB7-F54D-BE03-7B132329FA08}"/>
              </a:ext>
            </a:extLst>
          </p:cNvPr>
          <p:cNvSpPr txBox="1"/>
          <p:nvPr/>
        </p:nvSpPr>
        <p:spPr>
          <a:xfrm>
            <a:off x="4937759" y="79700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</a:rPr>
              <a:t>1.</a:t>
            </a:r>
            <a:r>
              <a:rPr lang="en-US" sz="2200" dirty="0"/>
              <a:t> </a:t>
            </a:r>
            <a:r>
              <a:rPr lang="en-US" sz="2200" b="0" i="0" dirty="0">
                <a:effectLst/>
              </a:rPr>
              <a:t>Linear Regression 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</a:rPr>
              <a:t>2. Random Forest Regressor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Compare model performance using </a:t>
            </a:r>
          </a:p>
          <a:p>
            <a:pPr marL="457200" indent="-22860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b="0" i="0" dirty="0" err="1">
                <a:effectLst/>
              </a:rPr>
              <a:t>Mean_absolute_error</a:t>
            </a:r>
            <a:r>
              <a:rPr lang="en-US" sz="2200" dirty="0"/>
              <a:t>(MAE)</a:t>
            </a:r>
            <a:r>
              <a:rPr lang="en-US" sz="2200" b="0" i="0" dirty="0">
                <a:effectLst/>
              </a:rPr>
              <a:t>, </a:t>
            </a:r>
          </a:p>
          <a:p>
            <a:pPr marL="457200" indent="-22860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</a:rPr>
              <a:t>RMSE(Root Mean Squared Error), </a:t>
            </a:r>
            <a:endParaRPr lang="en-US" sz="2200" dirty="0"/>
          </a:p>
          <a:p>
            <a:pPr marL="457200" indent="-22860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</a:rPr>
              <a:t>R²(R-</a:t>
            </a:r>
            <a:r>
              <a:rPr lang="en-US" sz="2200" b="0" i="0" dirty="0" err="1">
                <a:effectLst/>
              </a:rPr>
              <a:t>squared,Co</a:t>
            </a:r>
            <a:r>
              <a:rPr lang="en-US" sz="2200" b="0" i="0" dirty="0">
                <a:effectLst/>
              </a:rPr>
              <a:t>-efficient of Determination)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01317-D982-986D-630C-B9B2286B4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287999"/>
            <a:ext cx="10917936" cy="196522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B5D6D9-E078-7203-98F7-ABAB71E6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D4E69C-918F-0D4D-9E50-744087777A01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715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05A47-264E-C9C3-AACA-D1B20FF1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96716"/>
            <a:ext cx="4746675" cy="19258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u="sng" dirty="0"/>
              <a:t>Model Evaluation and Visualization</a:t>
            </a:r>
            <a:br>
              <a:rPr lang="en-US" sz="3800" b="1" u="sng" dirty="0"/>
            </a:br>
            <a:endParaRPr lang="en-US" sz="3800" b="1" u="sng" dirty="0"/>
          </a:p>
        </p:txBody>
      </p:sp>
      <p:sp>
        <p:nvSpPr>
          <p:cNvPr id="82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C6421-87D2-B4C7-BDD4-3C0B398E07D7}"/>
              </a:ext>
            </a:extLst>
          </p:cNvPr>
          <p:cNvSpPr txBox="1"/>
          <p:nvPr/>
        </p:nvSpPr>
        <p:spPr>
          <a:xfrm>
            <a:off x="640080" y="3260546"/>
            <a:ext cx="3895522" cy="27537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1143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b="1" i="0" dirty="0">
              <a:effectLst/>
            </a:endParaRP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Lease commencement trend by Month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Actual vs Predicted Rental Amount Forest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Lease Expiration Trend by Month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Top 20 Feature Importance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200" b="1" i="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04117-F601-3504-10B1-B61EB5A5E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311" y="2111435"/>
            <a:ext cx="4491111" cy="1577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A308ED-0EF9-0E03-BFB8-C87DAED3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246" y="259442"/>
            <a:ext cx="5228258" cy="18480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A13254-AA53-1C25-50FC-2FEB1CC40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723" y="5207230"/>
            <a:ext cx="3895522" cy="15142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B6332A-E7FC-B39E-FB64-9DD8EA036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615" y="3825540"/>
            <a:ext cx="4735889" cy="151424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E6EA7-0C6F-C0EF-954A-D239EBDD3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D4E69C-918F-0D4D-9E50-744087777A01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43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269C3-EB17-B2A3-01AC-6CB1F900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63" y="2437288"/>
            <a:ext cx="4232969" cy="16611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Recommendations</a:t>
            </a:r>
            <a:br>
              <a:rPr lang="en-US" sz="30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b="1" u="sng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06D24-1F19-DD57-71D6-863F4C2AAC0E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" panose="020B0004020202020204" pitchFamily="34" charset="0"/>
              </a:rPr>
              <a:t>Missing Values by Column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" panose="020B0004020202020204" pitchFamily="34" charset="0"/>
              </a:rPr>
              <a:t>Asset Distribution by State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" panose="020B0004020202020204" pitchFamily="34" charset="0"/>
              </a:rPr>
              <a:t>Distribution of Asset Rental Amount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" panose="020B0004020202020204" pitchFamily="34" charset="0"/>
              </a:rPr>
              <a:t>Asset Cost vs Monthly Rental Amount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" panose="020B0004020202020204" pitchFamily="34" charset="0"/>
              </a:rPr>
              <a:t>Actual vs Predicted Rental Amount: Random Forest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" panose="020B0004020202020204" pitchFamily="34" charset="0"/>
              </a:rPr>
              <a:t>Lease Commencement Trend by Month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" panose="020B0004020202020204" pitchFamily="34" charset="0"/>
              </a:rPr>
              <a:t>Lease Expiration Trend by Month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Aptos" panose="020B0004020202020204" pitchFamily="34" charset="0"/>
              </a:rPr>
              <a:t>Top 20 Feature Importances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9FA21-74E0-98D7-4E29-D905A31D3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D4E69C-918F-0D4D-9E50-744087777A01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05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E6033-279F-330F-BD9F-2C8A2892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  <a:b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A7F8-2EAF-2F73-EE91-28CCF26F4C0B}"/>
              </a:ext>
            </a:extLst>
          </p:cNvPr>
          <p:cNvSpPr txBox="1"/>
          <p:nvPr/>
        </p:nvSpPr>
        <p:spPr>
          <a:xfrm>
            <a:off x="4811478" y="548733"/>
            <a:ext cx="6899875" cy="5258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 Analyzed 1,727 lease assets and 29 contracts.</a:t>
            </a:r>
          </a:p>
          <a:p>
            <a:pPr marL="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altLang="en-US" sz="2200" b="1" dirty="0"/>
              <a:t>Performed data cleaning, exploratory data analysis (EDA), and predictive modeling.</a:t>
            </a:r>
          </a:p>
          <a:p>
            <a:pPr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Found a strong relationship between asset cost and monthly rental amount.</a:t>
            </a:r>
          </a:p>
          <a:p>
            <a:pPr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Identified missing data and pricing outliers that may require review.</a:t>
            </a:r>
          </a:p>
          <a:p>
            <a:pPr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The model predicted rental costs and identified the key cost drivers.</a:t>
            </a:r>
          </a:p>
          <a:p>
            <a:pPr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These insights support better lease planning and cost savings.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78E49-416E-E235-20F7-ECA0EF00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1362" y="6356350"/>
            <a:ext cx="100243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4D4E69C-918F-0D4D-9E50-744087777A01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7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556D-1E04-FAE7-BBA9-0B6933AB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08DF47-B28D-954A-F59D-863B967EAC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C01F8-EF9E-E19F-82C2-D11AB152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69C-918F-0D4D-9E50-744087777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57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C3B19-41E5-7FCB-AA4A-08409C74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670CE-E749-2718-D5C9-05200FEF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D4E69C-918F-0D4D-9E50-744087777A01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81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7510</TotalTime>
  <Words>813</Words>
  <Application>Microsoft Macintosh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Trebuchet MS</vt:lpstr>
      <vt:lpstr>Office Theme</vt:lpstr>
      <vt:lpstr>Asset Rental Agreement &amp; Financial Analytics</vt:lpstr>
      <vt:lpstr>PowerPoint Presentation</vt:lpstr>
      <vt:lpstr>PowerPoint Presentation</vt:lpstr>
      <vt:lpstr>PowerPoint Presentation</vt:lpstr>
      <vt:lpstr>PowerPoint Presentation</vt:lpstr>
      <vt:lpstr>Regression Modeling </vt:lpstr>
      <vt:lpstr>Model Evaluation and Visualization </vt:lpstr>
      <vt:lpstr>Business Recommendations </vt:lpstr>
      <vt:lpstr>Conclusion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Ghatani, Prakash</dc:creator>
  <cp:lastModifiedBy>Ghatani, Prakash</cp:lastModifiedBy>
  <cp:revision>25</cp:revision>
  <dcterms:created xsi:type="dcterms:W3CDTF">2026-06-18T16:45:32Z</dcterms:created>
  <dcterms:modified xsi:type="dcterms:W3CDTF">2026-06-27T20:10:32Z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2026-06-18T18:08:02Z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90a88412-19aa-4063-9d79-e7a2136b544b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50, 3, 0, 1</vt:lpwstr>
  </property>
</Properties>
</file>